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3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91E370-D35A-485C-AFD9-DD2D7B4557F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7BC0C0-1077-498E-9B43-B65C881799C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8200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91E370-D35A-485C-AFD9-DD2D7B4557F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2868296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A91E370-D35A-485C-AFD9-DD2D7B4557F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7BC0C0-1077-498E-9B43-B65C881799C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198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91E370-D35A-485C-AFD9-DD2D7B4557F6}"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790386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91E370-D35A-485C-AFD9-DD2D7B4557F6}" type="datetimeFigureOut">
              <a:rPr lang="en-IN" smtClean="0"/>
              <a:t>28-11-2025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239537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91E370-D35A-485C-AFD9-DD2D7B4557F6}" type="datetimeFigureOut">
              <a:rPr lang="en-IN" smtClean="0"/>
              <a:t>28-11-2025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619227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A91E370-D35A-485C-AFD9-DD2D7B4557F6}" type="datetimeFigureOut">
              <a:rPr lang="en-IN" smtClean="0"/>
              <a:t>28-11-2025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3389666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A91E370-D35A-485C-AFD9-DD2D7B4557F6}" type="datetimeFigureOut">
              <a:rPr lang="en-IN" smtClean="0"/>
              <a:t>28-11-2025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17BC0C0-1077-498E-9B43-B65C881799C0}" type="slidenum">
              <a:rPr lang="en-IN" smtClean="0"/>
              <a:t>‹#›</a:t>
            </a:fld>
            <a:endParaRPr lang="en-IN"/>
          </a:p>
        </p:txBody>
      </p:sp>
    </p:spTree>
    <p:extLst>
      <p:ext uri="{BB962C8B-B14F-4D97-AF65-F5344CB8AC3E}">
        <p14:creationId xmlns:p14="http://schemas.microsoft.com/office/powerpoint/2010/main" val="1117294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A91E370-D35A-485C-AFD9-DD2D7B4557F6}"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3757858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91E370-D35A-485C-AFD9-DD2D7B4557F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175546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91E370-D35A-485C-AFD9-DD2D7B4557F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7BC0C0-1077-498E-9B43-B65C881799C0}" type="slidenum">
              <a:rPr lang="en-IN" smtClean="0"/>
              <a:t>‹#›</a:t>
            </a:fld>
            <a:endParaRPr lang="en-IN"/>
          </a:p>
        </p:txBody>
      </p:sp>
    </p:spTree>
    <p:extLst>
      <p:ext uri="{BB962C8B-B14F-4D97-AF65-F5344CB8AC3E}">
        <p14:creationId xmlns:p14="http://schemas.microsoft.com/office/powerpoint/2010/main" val="1993178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A91E370-D35A-485C-AFD9-DD2D7B4557F6}" type="datetimeFigureOut">
              <a:rPr lang="en-IN" smtClean="0"/>
              <a:t>28-11-2025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17BC0C0-1077-498E-9B43-B65C881799C0}"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3715277"/>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oleObject" Target="../embeddings/oleObject1.bin"/><Relationship Id="rId4" Type="http://schemas.openxmlformats.org/officeDocument/2006/relationships/image" Target="../media/image3.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2245101" y="3158137"/>
            <a:ext cx="76325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lnSpc>
                <a:spcPct val="100000"/>
              </a:lnSpc>
              <a:spcAft>
                <a:spcPct val="0"/>
              </a:spcAft>
            </a:pPr>
            <a:r>
              <a:rPr lang="en-US" sz="2400" b="1" dirty="0">
                <a:solidFill>
                  <a:srgbClr val="002060"/>
                </a:solidFill>
                <a:latin typeface="Times New Roman"/>
                <a:cs typeface="Times New Roman"/>
              </a:rPr>
              <a:t>Cyber-Bullying Detection in Social </a:t>
            </a:r>
            <a:r>
              <a:rPr lang="en-US" sz="2400" b="1">
                <a:solidFill>
                  <a:srgbClr val="002060"/>
                </a:solidFill>
                <a:latin typeface="Times New Roman"/>
                <a:cs typeface="Times New Roman"/>
              </a:rPr>
              <a:t>Media Platforms</a:t>
            </a:r>
            <a:endParaRPr kumimoji="0" lang="en-US" altLang="en-US" sz="24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pic>
        <p:nvPicPr>
          <p:cNvPr id="1039" name="Picture 14" descr="DBIT_ry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38089" y="15661"/>
            <a:ext cx="936994" cy="105983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7" descr="w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749" y="69862"/>
            <a:ext cx="953340" cy="953339"/>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flipV="1">
            <a:off x="0" y="1127799"/>
            <a:ext cx="12192000" cy="56022"/>
          </a:xfrm>
          <a:prstGeom prst="line">
            <a:avLst/>
          </a:prstGeom>
          <a:noFill/>
          <a:ln w="22225" cap="flat" cmpd="sng" algn="ctr">
            <a:solidFill>
              <a:srgbClr val="4F81BD">
                <a:shade val="95000"/>
                <a:satMod val="105000"/>
                <a:alpha val="98000"/>
              </a:srgbClr>
            </a:solidFill>
            <a:prstDash val="solid"/>
          </a:ln>
          <a:effectLst/>
        </p:spPr>
      </p:cxnSp>
      <p:sp>
        <p:nvSpPr>
          <p:cNvPr id="13" name="Rectangle 17"/>
          <p:cNvSpPr>
            <a:spLocks noChangeArrowheads="1"/>
          </p:cNvSpPr>
          <p:nvPr/>
        </p:nvSpPr>
        <p:spPr bwMode="auto">
          <a:xfrm>
            <a:off x="1524861" y="4545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1" name="Rectangle 20"/>
          <p:cNvSpPr/>
          <p:nvPr/>
        </p:nvSpPr>
        <p:spPr>
          <a:xfrm>
            <a:off x="4383484" y="2769398"/>
            <a:ext cx="3058716" cy="369332"/>
          </a:xfrm>
          <a:prstGeom prst="rect">
            <a:avLst/>
          </a:prstGeom>
        </p:spPr>
        <p:txBody>
          <a:bodyPr wrap="square">
            <a:spAutoFit/>
          </a:bodyPr>
          <a:lstStyle/>
          <a:p>
            <a:r>
              <a:rPr lang="en-IN" b="1" i="1" dirty="0">
                <a:solidFill>
                  <a:srgbClr val="0070C0"/>
                </a:solidFill>
                <a:latin typeface="Times New Roman" panose="02020603050405020304" pitchFamily="18" charset="0"/>
                <a:ea typeface="Times New Roman" panose="02020603050405020304" pitchFamily="18" charset="0"/>
              </a:rPr>
              <a:t>28</a:t>
            </a:r>
            <a:r>
              <a:rPr lang="en-IN" b="1" i="1" baseline="30000" dirty="0">
                <a:solidFill>
                  <a:srgbClr val="0070C0"/>
                </a:solidFill>
                <a:latin typeface="Times New Roman" panose="02020603050405020304" pitchFamily="18" charset="0"/>
                <a:ea typeface="Times New Roman" panose="02020603050405020304" pitchFamily="18" charset="0"/>
              </a:rPr>
              <a:t>th</a:t>
            </a:r>
            <a:r>
              <a:rPr lang="en-IN" b="1" i="1" dirty="0">
                <a:solidFill>
                  <a:srgbClr val="0070C0"/>
                </a:solidFill>
                <a:latin typeface="Times New Roman" panose="02020603050405020304" pitchFamily="18" charset="0"/>
                <a:ea typeface="Times New Roman" panose="02020603050405020304" pitchFamily="18" charset="0"/>
              </a:rPr>
              <a:t> and 29</a:t>
            </a:r>
            <a:r>
              <a:rPr lang="en-IN" b="1" i="1" baseline="30000" dirty="0">
                <a:solidFill>
                  <a:srgbClr val="0070C0"/>
                </a:solidFill>
                <a:latin typeface="Times New Roman" panose="02020603050405020304" pitchFamily="18" charset="0"/>
                <a:ea typeface="Times New Roman" panose="02020603050405020304" pitchFamily="18" charset="0"/>
              </a:rPr>
              <a:t>th</a:t>
            </a:r>
            <a:r>
              <a:rPr lang="en-IN" b="1" i="1" dirty="0">
                <a:solidFill>
                  <a:srgbClr val="0070C0"/>
                </a:solidFill>
                <a:latin typeface="Times New Roman" panose="02020603050405020304" pitchFamily="18" charset="0"/>
                <a:ea typeface="Times New Roman" panose="02020603050405020304" pitchFamily="18" charset="0"/>
              </a:rPr>
              <a:t> November, 2025</a:t>
            </a:r>
            <a:endParaRPr lang="en-IN" dirty="0">
              <a:solidFill>
                <a:srgbClr val="0070C0"/>
              </a:solidFill>
            </a:endParaRPr>
          </a:p>
        </p:txBody>
      </p:sp>
      <p:sp>
        <p:nvSpPr>
          <p:cNvPr id="22" name="Rectangle 21"/>
          <p:cNvSpPr/>
          <p:nvPr/>
        </p:nvSpPr>
        <p:spPr>
          <a:xfrm>
            <a:off x="9006948" y="4518449"/>
            <a:ext cx="3080780" cy="1641475"/>
          </a:xfrm>
          <a:prstGeom prst="rect">
            <a:avLst/>
          </a:prstGeom>
        </p:spPr>
        <p:txBody>
          <a:bodyPr wrap="none">
            <a:spAutoFit/>
          </a:bodyPr>
          <a:lstStyle/>
          <a:p>
            <a:pPr marL="12700">
              <a:lnSpc>
                <a:spcPct val="100000"/>
              </a:lnSpc>
              <a:spcBef>
                <a:spcPts val="380"/>
              </a:spcBef>
            </a:pPr>
            <a:r>
              <a:rPr lang="en-US" sz="1400" b="1" dirty="0">
                <a:solidFill>
                  <a:srgbClr val="FF0000"/>
                </a:solidFill>
                <a:latin typeface="Times New Roman"/>
                <a:cs typeface="Times New Roman"/>
              </a:rPr>
              <a:t>AUTHORS:</a:t>
            </a:r>
          </a:p>
          <a:p>
            <a:pPr marL="12700">
              <a:lnSpc>
                <a:spcPct val="100000"/>
              </a:lnSpc>
              <a:spcBef>
                <a:spcPts val="380"/>
              </a:spcBef>
            </a:pPr>
            <a:r>
              <a:rPr lang="en-US" sz="1400" b="1" dirty="0">
                <a:solidFill>
                  <a:srgbClr val="FF0000"/>
                </a:solidFill>
                <a:latin typeface="Times New Roman"/>
                <a:cs typeface="Times New Roman"/>
              </a:rPr>
              <a:t>Dr. Nandini K S (Associate Professor)</a:t>
            </a:r>
          </a:p>
          <a:p>
            <a:pPr marL="12700">
              <a:spcBef>
                <a:spcPts val="380"/>
              </a:spcBef>
            </a:pPr>
            <a:r>
              <a:rPr lang="en-US" sz="1400" b="1" dirty="0">
                <a:solidFill>
                  <a:srgbClr val="FF0000"/>
                </a:solidFill>
                <a:latin typeface="Times New Roman"/>
                <a:cs typeface="Times New Roman"/>
              </a:rPr>
              <a:t>Vinay (1DB22AD060)</a:t>
            </a:r>
          </a:p>
          <a:p>
            <a:pPr marL="12700">
              <a:lnSpc>
                <a:spcPct val="100000"/>
              </a:lnSpc>
              <a:spcBef>
                <a:spcPts val="380"/>
              </a:spcBef>
            </a:pPr>
            <a:r>
              <a:rPr lang="en-US" sz="1400" b="1" dirty="0" err="1">
                <a:solidFill>
                  <a:srgbClr val="FF0000"/>
                </a:solidFill>
                <a:latin typeface="Times New Roman"/>
                <a:cs typeface="Times New Roman"/>
              </a:rPr>
              <a:t>Chethangiri</a:t>
            </a:r>
            <a:r>
              <a:rPr lang="en-US" sz="1400" b="1" dirty="0">
                <a:solidFill>
                  <a:srgbClr val="FF0000"/>
                </a:solidFill>
                <a:latin typeface="Times New Roman"/>
                <a:cs typeface="Times New Roman"/>
              </a:rPr>
              <a:t> K(1DB22AD013)</a:t>
            </a:r>
          </a:p>
          <a:p>
            <a:pPr marL="12700">
              <a:lnSpc>
                <a:spcPct val="100000"/>
              </a:lnSpc>
              <a:spcBef>
                <a:spcPts val="380"/>
              </a:spcBef>
            </a:pPr>
            <a:r>
              <a:rPr lang="en-US" sz="1400" b="1" dirty="0">
                <a:solidFill>
                  <a:srgbClr val="FF0000"/>
                </a:solidFill>
                <a:latin typeface="Times New Roman"/>
                <a:cs typeface="Times New Roman"/>
              </a:rPr>
              <a:t>Dhanush A B(1DB22AD017)</a:t>
            </a:r>
          </a:p>
          <a:p>
            <a:pPr marL="12700">
              <a:lnSpc>
                <a:spcPct val="100000"/>
              </a:lnSpc>
              <a:spcBef>
                <a:spcPts val="380"/>
              </a:spcBef>
            </a:pPr>
            <a:r>
              <a:rPr lang="en-US" sz="1400" b="1" dirty="0">
                <a:solidFill>
                  <a:srgbClr val="FF0000"/>
                </a:solidFill>
                <a:latin typeface="Times New Roman"/>
                <a:cs typeface="Times New Roman"/>
              </a:rPr>
              <a:t>Kushal H K (1DB22AD023)</a:t>
            </a:r>
          </a:p>
        </p:txBody>
      </p:sp>
      <p:pic>
        <p:nvPicPr>
          <p:cNvPr id="29" name="Picture 28" descr="E:\VANI 31-01-2022\R &amp; D NEW FACULTY PHOTOS &amp; DETAILS\logo\IIC-logo.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9472" y="1534847"/>
            <a:ext cx="942805" cy="361001"/>
          </a:xfrm>
          <a:prstGeom prst="rect">
            <a:avLst/>
          </a:prstGeom>
          <a:noFill/>
          <a:ln>
            <a:noFill/>
          </a:ln>
        </p:spPr>
      </p:pic>
      <p:graphicFrame>
        <p:nvGraphicFramePr>
          <p:cNvPr id="23" name="Object 22"/>
          <p:cNvGraphicFramePr>
            <a:graphicFrameLocks noChangeAspect="1"/>
          </p:cNvGraphicFramePr>
          <p:nvPr>
            <p:extLst>
              <p:ext uri="{D42A27DB-BD31-4B8C-83A1-F6EECF244321}">
                <p14:modId xmlns:p14="http://schemas.microsoft.com/office/powerpoint/2010/main" val="2389492279"/>
              </p:ext>
            </p:extLst>
          </p:nvPr>
        </p:nvGraphicFramePr>
        <p:xfrm>
          <a:off x="2698209" y="1508247"/>
          <a:ext cx="811049" cy="387601"/>
        </p:xfrm>
        <a:graphic>
          <a:graphicData uri="http://schemas.openxmlformats.org/presentationml/2006/ole">
            <mc:AlternateContent xmlns:mc="http://schemas.openxmlformats.org/markup-compatibility/2006">
              <mc:Choice xmlns:v="urn:schemas-microsoft-com:vml" Requires="v">
                <p:oleObj name="Bitmap Image" r:id="rId5" imgW="2180952" imgH="1085714" progId="Paint.Picture">
                  <p:embed/>
                </p:oleObj>
              </mc:Choice>
              <mc:Fallback>
                <p:oleObj name="Bitmap Image" r:id="rId5" imgW="2180952" imgH="1085714" progId="Paint.Picture">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8209" y="1508247"/>
                        <a:ext cx="811049" cy="387601"/>
                      </a:xfrm>
                      <a:prstGeom prst="rect">
                        <a:avLst/>
                      </a:prstGeom>
                      <a:noFill/>
                    </p:spPr>
                  </p:pic>
                </p:oleObj>
              </mc:Fallback>
            </mc:AlternateContent>
          </a:graphicData>
        </a:graphic>
      </p:graphicFrame>
      <p:pic>
        <p:nvPicPr>
          <p:cNvPr id="31" name="Picture 30"/>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06519" y="1446947"/>
            <a:ext cx="537081" cy="457000"/>
          </a:xfrm>
          <a:prstGeom prst="rect">
            <a:avLst/>
          </a:prstGeom>
          <a:noFill/>
          <a:ln>
            <a:noFill/>
          </a:ln>
        </p:spPr>
      </p:pic>
      <p:sp>
        <p:nvSpPr>
          <p:cNvPr id="24" name="Rectangle 23"/>
          <p:cNvSpPr/>
          <p:nvPr/>
        </p:nvSpPr>
        <p:spPr>
          <a:xfrm>
            <a:off x="4984157" y="1197531"/>
            <a:ext cx="1544012" cy="276999"/>
          </a:xfrm>
          <a:prstGeom prst="rect">
            <a:avLst/>
          </a:prstGeom>
        </p:spPr>
        <p:txBody>
          <a:bodyPr wrap="none">
            <a:spAutoFit/>
          </a:bodyPr>
          <a:lstStyle/>
          <a:p>
            <a:r>
              <a:rPr lang="en-IN" sz="1200" i="1" dirty="0">
                <a:solidFill>
                  <a:srgbClr val="C00000"/>
                </a:solidFill>
                <a:latin typeface="Arial Black" panose="020B0A04020102020204" pitchFamily="34" charset="0"/>
                <a:ea typeface="Calibri" panose="020F0502020204030204" pitchFamily="34" charset="0"/>
                <a:cs typeface="Times New Roman" panose="02020603050405020304" pitchFamily="18" charset="0"/>
              </a:rPr>
              <a:t>SPONSORED BY</a:t>
            </a:r>
            <a:endParaRPr lang="en-IN" sz="1200" dirty="0">
              <a:solidFill>
                <a:srgbClr val="C00000"/>
              </a:solidFill>
            </a:endParaRPr>
          </a:p>
        </p:txBody>
      </p:sp>
      <p:sp>
        <p:nvSpPr>
          <p:cNvPr id="15" name="Rectangle 18"/>
          <p:cNvSpPr>
            <a:spLocks noChangeArrowheads="1"/>
          </p:cNvSpPr>
          <p:nvPr/>
        </p:nvSpPr>
        <p:spPr bwMode="auto">
          <a:xfrm>
            <a:off x="2540441" y="94998"/>
            <a:ext cx="680631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C00000"/>
                </a:solidFill>
                <a:effectLst/>
                <a:latin typeface="Copperplate Gothic Bold" panose="020E0705020206020404" pitchFamily="34" charset="0"/>
                <a:ea typeface="Times New Roman" panose="02020603050405020304" pitchFamily="18" charset="0"/>
              </a:rPr>
              <a:t>Wayanamac</a:t>
            </a:r>
            <a:r>
              <a:rPr kumimoji="0" lang="en-US" altLang="en-US" sz="1000" b="0" i="0" u="none" strike="noStrike" cap="none" normalizeH="0" baseline="0" dirty="0">
                <a:ln>
                  <a:noFill/>
                </a:ln>
                <a:solidFill>
                  <a:srgbClr val="C00000"/>
                </a:solidFill>
                <a:effectLst/>
                <a:latin typeface="Copperplate Gothic Bold" panose="020E0705020206020404" pitchFamily="34" charset="0"/>
                <a:ea typeface="Times New Roman" panose="02020603050405020304" pitchFamily="18" charset="0"/>
              </a:rPr>
              <a:t> Education Trust </a:t>
            </a:r>
            <a:r>
              <a:rPr kumimoji="0" lang="en-US" altLang="en-US" sz="1000" b="0" i="0" u="none" strike="noStrike" cap="none" normalizeH="0" baseline="30000" dirty="0">
                <a:ln>
                  <a:noFill/>
                </a:ln>
                <a:solidFill>
                  <a:srgbClr val="C00000"/>
                </a:solidFill>
                <a:effectLst/>
                <a:latin typeface="Copperplate Gothic Bold" panose="020E0705020206020404" pitchFamily="34" charset="0"/>
                <a:ea typeface="Times New Roman" panose="02020603050405020304" pitchFamily="18" charset="0"/>
              </a:rPr>
              <a:t>(R)</a:t>
            </a:r>
            <a:endParaRPr kumimoji="0" lang="en-US" altLang="en-US" sz="800" b="0" i="0" u="none" strike="noStrike" cap="none" normalizeH="0" baseline="0" dirty="0">
              <a:ln>
                <a:noFill/>
              </a:ln>
              <a:solidFill>
                <a:srgbClr val="C00000"/>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70BF"/>
                </a:solidFill>
                <a:effectLst/>
                <a:latin typeface="Arial" panose="020B0604020202020204" pitchFamily="34" charset="0"/>
                <a:ea typeface="Times New Roman" panose="02020603050405020304" pitchFamily="18" charset="0"/>
              </a:rPr>
              <a:t>DON BOSCO INSTITUTE OF TECHNOLOGY </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70C0"/>
                </a:solidFill>
                <a:effectLst/>
                <a:latin typeface="Arial" panose="020B0604020202020204" pitchFamily="34" charset="0"/>
                <a:ea typeface="Times New Roman" panose="02020603050405020304" pitchFamily="18" charset="0"/>
              </a:rPr>
              <a:t>An Autonomous Institute under VTU, Approved by AICTE, New Delhi,</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70C0"/>
                </a:solidFill>
                <a:effectLst/>
                <a:latin typeface="Arial" panose="020B0604020202020204" pitchFamily="34" charset="0"/>
                <a:ea typeface="Times New Roman" panose="02020603050405020304" pitchFamily="18" charset="0"/>
              </a:rPr>
              <a:t>Recognized by Govt. of Karnataka, Accredited by NAAC &amp; NBA</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Mysore Road, </a:t>
            </a:r>
            <a:r>
              <a:rPr kumimoji="0" lang="en-US" altLang="en-US" sz="10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Kumbalagodu</a:t>
            </a:r>
            <a:r>
              <a:rPr kumimoji="0" lang="en-US" altLang="en-US" sz="1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Bengaluru-560 074.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3" name="Picture 32"/>
          <p:cNvPicPr/>
          <p:nvPr/>
        </p:nvPicPr>
        <p:blipFill>
          <a:blip r:embed="rId8">
            <a:extLst>
              <a:ext uri="{28A0092B-C50C-407E-A947-70E740481C1C}">
                <a14:useLocalDpi xmlns:a14="http://schemas.microsoft.com/office/drawing/2010/main" val="0"/>
              </a:ext>
            </a:extLst>
          </a:blip>
          <a:stretch>
            <a:fillRect/>
          </a:stretch>
        </p:blipFill>
        <p:spPr>
          <a:xfrm>
            <a:off x="8071596" y="1460870"/>
            <a:ext cx="703127" cy="483097"/>
          </a:xfrm>
          <a:prstGeom prst="rect">
            <a:avLst/>
          </a:prstGeom>
        </p:spPr>
      </p:pic>
      <p:pic>
        <p:nvPicPr>
          <p:cNvPr id="34" name="Picture 33"/>
          <p:cNvPicPr/>
          <p:nvPr/>
        </p:nvPicPr>
        <p:blipFill>
          <a:blip r:embed="rId9">
            <a:extLst>
              <a:ext uri="{28A0092B-C50C-407E-A947-70E740481C1C}">
                <a14:useLocalDpi xmlns:a14="http://schemas.microsoft.com/office/drawing/2010/main" val="0"/>
              </a:ext>
            </a:extLst>
          </a:blip>
          <a:srcRect/>
          <a:stretch>
            <a:fillRect/>
          </a:stretch>
        </p:blipFill>
        <p:spPr bwMode="auto">
          <a:xfrm>
            <a:off x="10543016" y="1355862"/>
            <a:ext cx="579254" cy="539986"/>
          </a:xfrm>
          <a:prstGeom prst="rect">
            <a:avLst/>
          </a:prstGeom>
          <a:noFill/>
          <a:ln>
            <a:noFill/>
          </a:ln>
        </p:spPr>
      </p:pic>
      <p:sp>
        <p:nvSpPr>
          <p:cNvPr id="25" name="Rectangle 24"/>
          <p:cNvSpPr/>
          <p:nvPr/>
        </p:nvSpPr>
        <p:spPr>
          <a:xfrm>
            <a:off x="1850913" y="1907624"/>
            <a:ext cx="7810500" cy="312650"/>
          </a:xfrm>
          <a:prstGeom prst="rect">
            <a:avLst/>
          </a:prstGeom>
        </p:spPr>
        <p:txBody>
          <a:bodyPr wrap="square">
            <a:spAutoFit/>
          </a:bodyPr>
          <a:lstStyle/>
          <a:p>
            <a:pPr algn="ctr">
              <a:lnSpc>
                <a:spcPct val="107000"/>
              </a:lnSpc>
              <a:spcAft>
                <a:spcPts val="0"/>
              </a:spcAft>
            </a:pPr>
            <a:r>
              <a:rPr lang="en-IN" sz="1400" dirty="0">
                <a:solidFill>
                  <a:srgbClr val="C00000"/>
                </a:solidFill>
                <a:latin typeface="Arial Black" panose="020B0A04020102020204" pitchFamily="34" charset="0"/>
                <a:ea typeface="Calibri" panose="020F0502020204030204" pitchFamily="34" charset="0"/>
                <a:cs typeface="Times New Roman" panose="02020603050405020304" pitchFamily="18" charset="0"/>
              </a:rPr>
              <a:t>All India Council for Technical Education (AICTE), New Delhi</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p:cNvSpPr/>
          <p:nvPr/>
        </p:nvSpPr>
        <p:spPr>
          <a:xfrm>
            <a:off x="1472419" y="1837670"/>
            <a:ext cx="8405280" cy="1015663"/>
          </a:xfrm>
          <a:prstGeom prst="rect">
            <a:avLst/>
          </a:prstGeom>
        </p:spPr>
        <p:txBody>
          <a:bodyPr wrap="square">
            <a:spAutoFit/>
          </a:bodyPr>
          <a:lstStyle/>
          <a:p>
            <a:pPr algn="ctr">
              <a:spcAft>
                <a:spcPts val="0"/>
              </a:spcAft>
            </a:pPr>
            <a:r>
              <a:rPr lang="en-IN" b="1" i="1" dirty="0">
                <a:solidFill>
                  <a:srgbClr val="7030A0"/>
                </a:solidFill>
                <a:latin typeface="Cambria" panose="02040503050406030204" pitchFamily="18" charset="0"/>
                <a:ea typeface="Calibri" panose="020F0502020204030204" pitchFamily="34" charset="0"/>
                <a:cs typeface="Times New Roman" panose="02020603050405020304" pitchFamily="18" charset="0"/>
              </a:rPr>
              <a:t>International Conference on</a:t>
            </a:r>
            <a:r>
              <a:rPr lang="en-IN" sz="4000" b="1" dirty="0">
                <a:ln>
                  <a:noFill/>
                </a:ln>
                <a:solidFill>
                  <a:srgbClr val="7030A0"/>
                </a:solidFill>
                <a:effectLst/>
                <a:latin typeface="Cambria" panose="02040503050406030204" pitchFamily="18"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ctr">
              <a:spcAft>
                <a:spcPts val="0"/>
              </a:spcAft>
            </a:pPr>
            <a:r>
              <a:rPr lang="en-IN" b="1" i="1" dirty="0">
                <a:solidFill>
                  <a:srgbClr val="7030A0"/>
                </a:solidFill>
                <a:latin typeface="Cambria" panose="02040503050406030204" pitchFamily="18" charset="0"/>
                <a:ea typeface="Calibri" panose="020F0502020204030204" pitchFamily="34" charset="0"/>
                <a:cs typeface="Times New Roman" panose="02020603050405020304" pitchFamily="18" charset="0"/>
              </a:rPr>
              <a:t>Cybernetics, Cognition &amp; Machine Learning Applications(IC3MLA-2025)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95762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D5CC0-6712-CA13-4BAA-6B726097CA06}"/>
              </a:ext>
            </a:extLst>
          </p:cNvPr>
          <p:cNvSpPr>
            <a:spLocks noGrp="1"/>
          </p:cNvSpPr>
          <p:nvPr>
            <p:ph type="title"/>
          </p:nvPr>
        </p:nvSpPr>
        <p:spPr>
          <a:xfrm>
            <a:off x="1097280" y="558746"/>
            <a:ext cx="10058400" cy="702303"/>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CONTENTS</a:t>
            </a:r>
            <a:endParaRPr lang="en-IN" dirty="0"/>
          </a:p>
        </p:txBody>
      </p:sp>
      <p:sp>
        <p:nvSpPr>
          <p:cNvPr id="3" name="Content Placeholder 2">
            <a:extLst>
              <a:ext uri="{FF2B5EF4-FFF2-40B4-BE49-F238E27FC236}">
                <a16:creationId xmlns:a16="http://schemas.microsoft.com/office/drawing/2014/main" id="{1F6F6AB5-BA99-FFC0-F254-19B1890EF865}"/>
              </a:ext>
            </a:extLst>
          </p:cNvPr>
          <p:cNvSpPr>
            <a:spLocks noGrp="1"/>
          </p:cNvSpPr>
          <p:nvPr>
            <p:ph idx="1"/>
          </p:nvPr>
        </p:nvSpPr>
        <p:spPr/>
        <p:txBody>
          <a:bodyPr>
            <a:normAutofit fontScale="85000" lnSpcReduction="20000"/>
          </a:bodyPr>
          <a:lstStyle/>
          <a:p>
            <a:pPr marL="471170" indent="-342900">
              <a:lnSpc>
                <a:spcPct val="100000"/>
              </a:lnSpc>
              <a:spcBef>
                <a:spcPts val="1480"/>
              </a:spcBef>
              <a:buFont typeface="Arial" panose="020B0604020202020204" pitchFamily="34" charset="0"/>
              <a:buChar char="•"/>
              <a:tabLst>
                <a:tab pos="530225" algn="l"/>
              </a:tabLst>
            </a:pPr>
            <a:r>
              <a:rPr lang="en-US" spc="-10" dirty="0">
                <a:latin typeface="Times New Roman" panose="02020603050405020304" pitchFamily="18" charset="0"/>
                <a:cs typeface="Times New Roman" panose="02020603050405020304" pitchFamily="18" charset="0"/>
              </a:rPr>
              <a:t>Abstract</a:t>
            </a:r>
          </a:p>
          <a:p>
            <a:pPr marL="471170" indent="-342900">
              <a:lnSpc>
                <a:spcPct val="100000"/>
              </a:lnSpc>
              <a:spcBef>
                <a:spcPts val="1480"/>
              </a:spcBef>
              <a:buFont typeface="Arial" panose="020B0604020202020204" pitchFamily="34" charset="0"/>
              <a:buChar char="•"/>
              <a:tabLst>
                <a:tab pos="530225" algn="l"/>
              </a:tabLst>
            </a:pPr>
            <a:r>
              <a:rPr lang="en-US" spc="-10"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a:p>
            <a:pPr marL="471170" indent="-342900">
              <a:lnSpc>
                <a:spcPct val="100000"/>
              </a:lnSpc>
              <a:spcBef>
                <a:spcPts val="1485"/>
              </a:spcBef>
              <a:buFont typeface="Arial" panose="020B0604020202020204" pitchFamily="34" charset="0"/>
              <a:buChar char="•"/>
              <a:tabLst>
                <a:tab pos="530225" algn="l"/>
              </a:tabLst>
            </a:pPr>
            <a:r>
              <a:rPr lang="en-US" spc="-10" dirty="0">
                <a:latin typeface="Times New Roman" panose="02020603050405020304" pitchFamily="18" charset="0"/>
                <a:ea typeface="Tahoma" panose="020B0604030504040204" pitchFamily="34" charset="0"/>
                <a:cs typeface="Times New Roman" panose="02020603050405020304" pitchFamily="18" charset="0"/>
              </a:rPr>
              <a:t>Literature Survey</a:t>
            </a:r>
          </a:p>
          <a:p>
            <a:pPr marL="471170" indent="-342900">
              <a:spcBef>
                <a:spcPts val="1485"/>
              </a:spcBef>
              <a:buFont typeface="Arial" panose="020B0604020202020204" pitchFamily="34" charset="0"/>
              <a:buChar char="•"/>
              <a:tabLst>
                <a:tab pos="530225" algn="l"/>
              </a:tabLst>
            </a:pPr>
            <a:r>
              <a:rPr lang="en-US" spc="-10" dirty="0">
                <a:latin typeface="Times New Roman" panose="02020603050405020304" pitchFamily="18" charset="0"/>
                <a:cs typeface="Times New Roman" panose="02020603050405020304" pitchFamily="18" charset="0"/>
              </a:rPr>
              <a:t>Objectives</a:t>
            </a:r>
          </a:p>
          <a:p>
            <a:pPr marL="471170" indent="-342900">
              <a:spcBef>
                <a:spcPts val="1485"/>
              </a:spcBef>
              <a:buFont typeface="Arial" panose="020B0604020202020204" pitchFamily="34" charset="0"/>
              <a:buChar char="•"/>
              <a:tabLst>
                <a:tab pos="530225" algn="l"/>
              </a:tabLst>
            </a:pPr>
            <a:r>
              <a:rPr lang="en-US" spc="-10" dirty="0">
                <a:latin typeface="Times New Roman" panose="02020603050405020304" pitchFamily="18" charset="0"/>
                <a:cs typeface="Times New Roman" panose="02020603050405020304" pitchFamily="18" charset="0"/>
              </a:rPr>
              <a:t>System Model</a:t>
            </a:r>
          </a:p>
          <a:p>
            <a:pPr marL="471170" indent="-342900">
              <a:spcBef>
                <a:spcPts val="1485"/>
              </a:spcBef>
              <a:buFont typeface="Arial" panose="020B0604020202020204" pitchFamily="34" charset="0"/>
              <a:buChar char="•"/>
              <a:tabLst>
                <a:tab pos="530225" algn="l"/>
              </a:tabLst>
            </a:pPr>
            <a:r>
              <a:rPr lang="en-US" spc="-10" dirty="0">
                <a:latin typeface="Times New Roman" panose="02020603050405020304" pitchFamily="18" charset="0"/>
                <a:cs typeface="Times New Roman" panose="02020603050405020304" pitchFamily="18" charset="0"/>
              </a:rPr>
              <a:t>Methodology</a:t>
            </a:r>
            <a:endParaRPr lang="en-US" dirty="0">
              <a:latin typeface="Times New Roman" panose="02020603050405020304" pitchFamily="18" charset="0"/>
              <a:cs typeface="Times New Roman" panose="02020603050405020304" pitchFamily="18" charset="0"/>
            </a:endParaRPr>
          </a:p>
          <a:p>
            <a:pPr marL="471170" indent="-342900">
              <a:lnSpc>
                <a:spcPct val="100000"/>
              </a:lnSpc>
              <a:spcBef>
                <a:spcPts val="1480"/>
              </a:spcBef>
              <a:buFont typeface="Arial" panose="020B0604020202020204" pitchFamily="34" charset="0"/>
              <a:buChar char="•"/>
              <a:tabLst>
                <a:tab pos="530225" algn="l"/>
              </a:tabLst>
            </a:pPr>
            <a:r>
              <a:rPr lang="en-US" dirty="0">
                <a:latin typeface="Times New Roman" panose="02020603050405020304" pitchFamily="18" charset="0"/>
                <a:cs typeface="Times New Roman" panose="02020603050405020304" pitchFamily="18" charset="0"/>
              </a:rPr>
              <a:t>Software</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&amp;</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Hardware</a:t>
            </a:r>
            <a:r>
              <a:rPr lang="en-US" spc="-75"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requirements</a:t>
            </a:r>
          </a:p>
          <a:p>
            <a:pPr marL="471170" indent="-342900">
              <a:lnSpc>
                <a:spcPct val="100000"/>
              </a:lnSpc>
              <a:spcBef>
                <a:spcPts val="1480"/>
              </a:spcBef>
              <a:buFont typeface="Arial" panose="020B0604020202020204" pitchFamily="34" charset="0"/>
              <a:buChar char="•"/>
              <a:tabLst>
                <a:tab pos="530225" algn="l"/>
              </a:tabLst>
            </a:pPr>
            <a:r>
              <a:rPr lang="en-US" dirty="0">
                <a:latin typeface="Times New Roman" panose="02020603050405020304" pitchFamily="18" charset="0"/>
                <a:cs typeface="Times New Roman" panose="02020603050405020304" pitchFamily="18" charset="0"/>
              </a:rPr>
              <a:t>Result and Discussion</a:t>
            </a:r>
          </a:p>
          <a:p>
            <a:pPr marL="471170" indent="-342900">
              <a:spcBef>
                <a:spcPts val="1485"/>
              </a:spcBef>
              <a:buFont typeface="Arial" panose="020B0604020202020204" pitchFamily="34" charset="0"/>
              <a:buChar char="•"/>
              <a:tabLst>
                <a:tab pos="530225" algn="l"/>
              </a:tabLst>
            </a:pPr>
            <a:r>
              <a:rPr lang="en-US" dirty="0">
                <a:latin typeface="Times New Roman" panose="02020603050405020304" pitchFamily="18" charset="0"/>
                <a:cs typeface="Times New Roman" panose="02020603050405020304" pitchFamily="18" charset="0"/>
              </a:rPr>
              <a:t>Conclusion</a:t>
            </a:r>
            <a:r>
              <a:rPr lang="en-US" spc="-2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&amp;</a:t>
            </a:r>
            <a:r>
              <a:rPr lang="en-US" spc="-3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Future</a:t>
            </a:r>
            <a:r>
              <a:rPr lang="en-US" spc="-30"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scope</a:t>
            </a:r>
            <a:endParaRPr lang="en-US" dirty="0">
              <a:latin typeface="Times New Roman" panose="02020603050405020304" pitchFamily="18" charset="0"/>
              <a:cs typeface="Times New Roman" panose="02020603050405020304" pitchFamily="18" charset="0"/>
            </a:endParaRPr>
          </a:p>
          <a:p>
            <a:pPr marL="471170" indent="-342900">
              <a:spcBef>
                <a:spcPts val="1485"/>
              </a:spcBef>
              <a:buFont typeface="Arial" panose="020B0604020202020204" pitchFamily="34" charset="0"/>
              <a:buChar char="•"/>
              <a:tabLst>
                <a:tab pos="530225" algn="l"/>
              </a:tabLst>
            </a:pPr>
            <a:r>
              <a:rPr lang="en-US" spc="-10"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2321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B9A76-9E23-9552-BFDD-5ABE61D64B2A}"/>
              </a:ext>
            </a:extLst>
          </p:cNvPr>
          <p:cNvSpPr>
            <a:spLocks noGrp="1"/>
          </p:cNvSpPr>
          <p:nvPr>
            <p:ph type="title"/>
          </p:nvPr>
        </p:nvSpPr>
        <p:spPr>
          <a:xfrm>
            <a:off x="1097280" y="512111"/>
            <a:ext cx="10058400" cy="953589"/>
          </a:xfrm>
        </p:spPr>
        <p:txBody>
          <a:bodyPr/>
          <a:lstStyle/>
          <a:p>
            <a:pPr algn="ctr"/>
            <a:r>
              <a:rPr lang="en-US" b="1" dirty="0">
                <a:latin typeface="Times New Roman" panose="02020603050405020304" pitchFamily="18" charset="0"/>
                <a:cs typeface="Times New Roman" panose="02020603050405020304" pitchFamily="18" charset="0"/>
              </a:rPr>
              <a:t>ABSTRACT</a:t>
            </a:r>
            <a:endParaRPr lang="en-IN" dirty="0"/>
          </a:p>
        </p:txBody>
      </p:sp>
      <p:sp>
        <p:nvSpPr>
          <p:cNvPr id="3" name="Content Placeholder 2">
            <a:extLst>
              <a:ext uri="{FF2B5EF4-FFF2-40B4-BE49-F238E27FC236}">
                <a16:creationId xmlns:a16="http://schemas.microsoft.com/office/drawing/2014/main" id="{A7222702-FD85-5494-05D0-CD315F5C810A}"/>
              </a:ext>
            </a:extLst>
          </p:cNvPr>
          <p:cNvSpPr>
            <a:spLocks noGrp="1"/>
          </p:cNvSpPr>
          <p:nvPr>
            <p:ph idx="1"/>
          </p:nvPr>
        </p:nvSpPr>
        <p:spPr>
          <a:xfrm>
            <a:off x="1097280" y="2100943"/>
            <a:ext cx="10058400" cy="3430694"/>
          </a:xfrm>
        </p:spPr>
        <p:txBody>
          <a:bodyPr/>
          <a:lstStyle/>
          <a:p>
            <a:pPr algn="just" eaLnBrk="0" fontAlgn="base" hangingPunct="0">
              <a:lnSpc>
                <a:spcPct val="100000"/>
              </a:lnSpc>
              <a:spcBef>
                <a:spcPct val="0"/>
              </a:spcBef>
              <a:spcAft>
                <a:spcPct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The project develops an automated cyberbullying detection system using Deep Learning (DL) to address the growing mental health impact of online harassment, particularly among adolescents.</a:t>
            </a:r>
          </a:p>
          <a:p>
            <a:pPr algn="just" eaLnBrk="0" fontAlgn="base" hangingPunct="0">
              <a:lnSpc>
                <a:spcPct val="100000"/>
              </a:lnSpc>
              <a:spcBef>
                <a:spcPct val="0"/>
              </a:spcBef>
              <a:spcAft>
                <a:spcPct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Data from eight Kaggle datasets is preprocessed through tokenization, stop-word removal, followed by text feature extraction and classification using a Bidirectional LSTM (</a:t>
            </a:r>
            <a:r>
              <a:rPr lang="en-US" altLang="en-US" sz="2400" dirty="0" err="1">
                <a:solidFill>
                  <a:schemeClr val="tx1"/>
                </a:solidFill>
                <a:latin typeface="Times New Roman" panose="02020603050405020304" pitchFamily="18" charset="0"/>
                <a:cs typeface="Times New Roman" panose="02020603050405020304" pitchFamily="18" charset="0"/>
              </a:rPr>
              <a:t>BiLSTM</a:t>
            </a:r>
            <a:r>
              <a:rPr lang="en-US" altLang="en-US" sz="2400" dirty="0">
                <a:solidFill>
                  <a:schemeClr val="tx1"/>
                </a:solidFill>
                <a:latin typeface="Times New Roman" panose="02020603050405020304" pitchFamily="18" charset="0"/>
                <a:cs typeface="Times New Roman" panose="02020603050405020304" pitchFamily="18" charset="0"/>
              </a:rPr>
              <a:t>) model.</a:t>
            </a:r>
          </a:p>
          <a:p>
            <a:pPr algn="just" eaLnBrk="0" fontAlgn="base" hangingPunct="0">
              <a:lnSpc>
                <a:spcPct val="100000"/>
              </a:lnSpc>
              <a:spcBef>
                <a:spcPct val="0"/>
              </a:spcBef>
              <a:spcAft>
                <a:spcPct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The model demonstrates high performance in accuracy, precision, recall, and F1 score, effectively detecting offensive or bullying content and contributing to safer digital communication environments.</a:t>
            </a:r>
          </a:p>
          <a:p>
            <a:endParaRPr lang="en-IN" dirty="0"/>
          </a:p>
        </p:txBody>
      </p:sp>
    </p:spTree>
    <p:extLst>
      <p:ext uri="{BB962C8B-B14F-4D97-AF65-F5344CB8AC3E}">
        <p14:creationId xmlns:p14="http://schemas.microsoft.com/office/powerpoint/2010/main" val="3936124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C2A75-4F55-348B-7046-6A756892C6D2}"/>
              </a:ext>
            </a:extLst>
          </p:cNvPr>
          <p:cNvSpPr>
            <a:spLocks noGrp="1"/>
          </p:cNvSpPr>
          <p:nvPr>
            <p:ph type="title"/>
          </p:nvPr>
        </p:nvSpPr>
        <p:spPr>
          <a:xfrm>
            <a:off x="1066800" y="560707"/>
            <a:ext cx="10058400" cy="856397"/>
          </a:xfrm>
        </p:spPr>
        <p:txBody>
          <a:bodyPr/>
          <a:lstStyle/>
          <a:p>
            <a:pPr algn="ctr"/>
            <a:r>
              <a:rPr lang="en-US" b="1" dirty="0">
                <a:latin typeface="Times New Roman" panose="02020603050405020304" pitchFamily="18" charset="0"/>
                <a:cs typeface="Times New Roman" panose="02020603050405020304" pitchFamily="18" charset="0"/>
              </a:rPr>
              <a:t>INTRODUCTION</a:t>
            </a:r>
            <a:endParaRPr lang="en-IN" dirty="0"/>
          </a:p>
        </p:txBody>
      </p:sp>
      <p:sp>
        <p:nvSpPr>
          <p:cNvPr id="3" name="Content Placeholder 2">
            <a:extLst>
              <a:ext uri="{FF2B5EF4-FFF2-40B4-BE49-F238E27FC236}">
                <a16:creationId xmlns:a16="http://schemas.microsoft.com/office/drawing/2014/main" id="{FD281403-52D9-D096-B6CE-DEAE7FEC1D0D}"/>
              </a:ext>
            </a:extLst>
          </p:cNvPr>
          <p:cNvSpPr>
            <a:spLocks noGrp="1"/>
          </p:cNvSpPr>
          <p:nvPr>
            <p:ph idx="1"/>
          </p:nvPr>
        </p:nvSpPr>
        <p:spPr>
          <a:xfrm>
            <a:off x="1097280" y="1981200"/>
            <a:ext cx="10058400" cy="3887894"/>
          </a:xfrm>
        </p:spPr>
        <p:txBody>
          <a:bodyPr/>
          <a:lstStyle/>
          <a:p>
            <a:pPr algn="just" eaLnBrk="0" fontAlgn="base" hangingPunct="0">
              <a:lnSpc>
                <a:spcPct val="100000"/>
              </a:lnSpc>
              <a:spcBef>
                <a:spcPct val="0"/>
              </a:spcBef>
              <a:spcAft>
                <a:spcPct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The internet and platforms like Facebook, Twitter, and YouTube have revolutionized global communication, engaging over 5 billion active users as of January 2024.</a:t>
            </a:r>
          </a:p>
          <a:p>
            <a:pPr algn="just" eaLnBrk="0" fontAlgn="base" hangingPunct="0">
              <a:lnSpc>
                <a:spcPct val="100000"/>
              </a:lnSpc>
              <a:spcBef>
                <a:spcPct val="0"/>
              </a:spcBef>
              <a:spcAft>
                <a:spcPct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Despite their benefits, social media platforms have become hotspots for cyberbullying—intentional and repetitive online harassment causing severe psychological effects such as anxiety, depression, and suicidal thoughts.</a:t>
            </a:r>
          </a:p>
          <a:p>
            <a:pPr algn="just" eaLnBrk="0" fontAlgn="base" hangingPunct="0">
              <a:lnSpc>
                <a:spcPct val="100000"/>
              </a:lnSpc>
              <a:spcBef>
                <a:spcPct val="0"/>
              </a:spcBef>
              <a:spcAft>
                <a:spcPct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Detecting cyberbullying is difficult due to the evolving nature of online language, including slang, sarcasm, and cultural nuances, making traditional moderation methods slow and ineffective.</a:t>
            </a:r>
          </a:p>
          <a:p>
            <a:endParaRPr lang="en-IN" dirty="0"/>
          </a:p>
        </p:txBody>
      </p:sp>
    </p:spTree>
    <p:extLst>
      <p:ext uri="{BB962C8B-B14F-4D97-AF65-F5344CB8AC3E}">
        <p14:creationId xmlns:p14="http://schemas.microsoft.com/office/powerpoint/2010/main" val="3226947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D09D-22AD-A2ED-DCDC-2874801F5CAE}"/>
              </a:ext>
            </a:extLst>
          </p:cNvPr>
          <p:cNvSpPr>
            <a:spLocks noGrp="1"/>
          </p:cNvSpPr>
          <p:nvPr>
            <p:ph type="title"/>
          </p:nvPr>
        </p:nvSpPr>
        <p:spPr>
          <a:xfrm>
            <a:off x="1153886" y="478917"/>
            <a:ext cx="10058400" cy="899940"/>
          </a:xfrm>
        </p:spPr>
        <p:txBody>
          <a:bodyPr/>
          <a:lstStyle/>
          <a:p>
            <a:pPr algn="ctr"/>
            <a:r>
              <a:rPr lang="en-US" b="1" dirty="0">
                <a:latin typeface="Times New Roman" panose="02020603050405020304" pitchFamily="18" charset="0"/>
                <a:cs typeface="Times New Roman" panose="02020603050405020304" pitchFamily="18" charset="0"/>
              </a:rPr>
              <a:t>LITERATURE SURVEY</a:t>
            </a:r>
            <a:endParaRPr lang="en-IN" dirty="0"/>
          </a:p>
        </p:txBody>
      </p:sp>
      <p:graphicFrame>
        <p:nvGraphicFramePr>
          <p:cNvPr id="4" name="Table 3">
            <a:extLst>
              <a:ext uri="{FF2B5EF4-FFF2-40B4-BE49-F238E27FC236}">
                <a16:creationId xmlns:a16="http://schemas.microsoft.com/office/drawing/2014/main" id="{99DD8853-8E6E-9480-2BC0-970F9BD41A87}"/>
              </a:ext>
            </a:extLst>
          </p:cNvPr>
          <p:cNvGraphicFramePr>
            <a:graphicFrameLocks noGrp="1"/>
          </p:cNvGraphicFramePr>
          <p:nvPr>
            <p:extLst>
              <p:ext uri="{D42A27DB-BD31-4B8C-83A1-F6EECF244321}">
                <p14:modId xmlns:p14="http://schemas.microsoft.com/office/powerpoint/2010/main" val="3433989773"/>
              </p:ext>
            </p:extLst>
          </p:nvPr>
        </p:nvGraphicFramePr>
        <p:xfrm>
          <a:off x="226423" y="1803401"/>
          <a:ext cx="11739154" cy="4431592"/>
        </p:xfrm>
        <a:graphic>
          <a:graphicData uri="http://schemas.openxmlformats.org/drawingml/2006/table">
            <a:tbl>
              <a:tblPr firstRow="1" bandRow="1">
                <a:tableStyleId>{5C22544A-7EE6-4342-B048-85BDC9FD1C3A}</a:tableStyleId>
              </a:tblPr>
              <a:tblGrid>
                <a:gridCol w="476459">
                  <a:extLst>
                    <a:ext uri="{9D8B030D-6E8A-4147-A177-3AD203B41FA5}">
                      <a16:colId xmlns:a16="http://schemas.microsoft.com/office/drawing/2014/main" val="656982152"/>
                    </a:ext>
                  </a:extLst>
                </a:gridCol>
                <a:gridCol w="1530754">
                  <a:extLst>
                    <a:ext uri="{9D8B030D-6E8A-4147-A177-3AD203B41FA5}">
                      <a16:colId xmlns:a16="http://schemas.microsoft.com/office/drawing/2014/main" val="2130718055"/>
                    </a:ext>
                  </a:extLst>
                </a:gridCol>
                <a:gridCol w="1246905">
                  <a:extLst>
                    <a:ext uri="{9D8B030D-6E8A-4147-A177-3AD203B41FA5}">
                      <a16:colId xmlns:a16="http://schemas.microsoft.com/office/drawing/2014/main" val="2291240927"/>
                    </a:ext>
                  </a:extLst>
                </a:gridCol>
                <a:gridCol w="577834">
                  <a:extLst>
                    <a:ext uri="{9D8B030D-6E8A-4147-A177-3AD203B41FA5}">
                      <a16:colId xmlns:a16="http://schemas.microsoft.com/office/drawing/2014/main" val="1166649544"/>
                    </a:ext>
                  </a:extLst>
                </a:gridCol>
                <a:gridCol w="2199824">
                  <a:extLst>
                    <a:ext uri="{9D8B030D-6E8A-4147-A177-3AD203B41FA5}">
                      <a16:colId xmlns:a16="http://schemas.microsoft.com/office/drawing/2014/main" val="414348410"/>
                    </a:ext>
                  </a:extLst>
                </a:gridCol>
                <a:gridCol w="1997076">
                  <a:extLst>
                    <a:ext uri="{9D8B030D-6E8A-4147-A177-3AD203B41FA5}">
                      <a16:colId xmlns:a16="http://schemas.microsoft.com/office/drawing/2014/main" val="1344384489"/>
                    </a:ext>
                  </a:extLst>
                </a:gridCol>
                <a:gridCol w="1946388">
                  <a:extLst>
                    <a:ext uri="{9D8B030D-6E8A-4147-A177-3AD203B41FA5}">
                      <a16:colId xmlns:a16="http://schemas.microsoft.com/office/drawing/2014/main" val="2911111320"/>
                    </a:ext>
                  </a:extLst>
                </a:gridCol>
                <a:gridCol w="1763914">
                  <a:extLst>
                    <a:ext uri="{9D8B030D-6E8A-4147-A177-3AD203B41FA5}">
                      <a16:colId xmlns:a16="http://schemas.microsoft.com/office/drawing/2014/main" val="3800206859"/>
                    </a:ext>
                  </a:extLst>
                </a:gridCol>
              </a:tblGrid>
              <a:tr h="565503">
                <a:tc>
                  <a:txBody>
                    <a:bodyPr/>
                    <a:lstStyle/>
                    <a:p>
                      <a:pPr algn="l"/>
                      <a:r>
                        <a:rPr lang="en-US" sz="1500" dirty="0" err="1">
                          <a:solidFill>
                            <a:schemeClr val="tx1"/>
                          </a:solidFill>
                          <a:latin typeface="Times New Roman" panose="02020603050405020304" pitchFamily="18" charset="0"/>
                          <a:cs typeface="Times New Roman" panose="02020603050405020304" pitchFamily="18" charset="0"/>
                        </a:rPr>
                        <a:t>Sl.No</a:t>
                      </a:r>
                      <a:r>
                        <a:rPr lang="en-US" sz="1500" dirty="0">
                          <a:solidFill>
                            <a:schemeClr val="tx1"/>
                          </a:solidFill>
                          <a:latin typeface="Times New Roman" panose="02020603050405020304" pitchFamily="18" charset="0"/>
                          <a:cs typeface="Times New Roman" panose="02020603050405020304" pitchFamily="18" charset="0"/>
                        </a:rPr>
                        <a:t>.</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Title</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Author</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Year</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Publication</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Methodology</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Advantages</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Limitations</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887471"/>
                  </a:ext>
                </a:extLst>
              </a:tr>
              <a:tr h="1415487">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1.</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Effective Automatic Cyberbullying Detection Using a Hybrid Approach SVM And NLP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sv-SE" sz="1300" b="0" dirty="0">
                          <a:latin typeface="Times New Roman" panose="02020603050405020304" pitchFamily="18" charset="0"/>
                          <a:cs typeface="Times New Roman" panose="02020603050405020304" pitchFamily="18" charset="0"/>
                        </a:rPr>
                        <a:t>J. Sathya , F. Mary Harin Fernandez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1300" b="0" dirty="0">
                          <a:latin typeface="Times New Roman" panose="02020603050405020304" pitchFamily="18" charset="0"/>
                          <a:cs typeface="Times New Roman" panose="02020603050405020304" pitchFamily="18" charset="0"/>
                        </a:rPr>
                        <a:t>2024</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2024 International Conference on Advances in Data Engineering and Intelligent Computing Systems (ADICS)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A hybrid model using Support Vector Machine (SVM), NLP, TF-IDF, and the LIWC2 tool to classify text as cyberbullying or non-cyberbullying.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l">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Achieved high accuracy of 93.15% on the test data.</a:t>
                      </a:r>
                    </a:p>
                    <a:p>
                      <a:pPr marL="285750" indent="-285750" algn="l">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Outperformed other NLP methods like Naive Bayes and logistic regression.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Not explicitly stated in the provided text.</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496050"/>
                  </a:ext>
                </a:extLst>
              </a:tr>
              <a:tr h="2387809">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2.</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Advanced Cyberbullying Detection: A Hybrid Model Integrated with Naïve Bayes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1300" b="0" dirty="0">
                          <a:latin typeface="Times New Roman" panose="02020603050405020304" pitchFamily="18" charset="0"/>
                          <a:cs typeface="Times New Roman" panose="02020603050405020304" pitchFamily="18" charset="0"/>
                        </a:rPr>
                        <a:t>M. Priyadharshini , </a:t>
                      </a:r>
                      <a:r>
                        <a:rPr lang="en-IN" sz="1300" b="0" dirty="0" err="1">
                          <a:latin typeface="Times New Roman" panose="02020603050405020304" pitchFamily="18" charset="0"/>
                          <a:cs typeface="Times New Roman" panose="02020603050405020304" pitchFamily="18" charset="0"/>
                        </a:rPr>
                        <a:t>B.Nithya</a:t>
                      </a:r>
                      <a:r>
                        <a:rPr lang="en-IN" sz="1300" b="0" dirty="0">
                          <a:latin typeface="Times New Roman" panose="02020603050405020304" pitchFamily="18" charset="0"/>
                          <a:cs typeface="Times New Roman" panose="02020603050405020304" pitchFamily="18" charset="0"/>
                        </a:rPr>
                        <a:t> , </a:t>
                      </a:r>
                      <a:r>
                        <a:rPr lang="en-IN" sz="1300" b="0" dirty="0" err="1">
                          <a:latin typeface="Times New Roman" panose="02020603050405020304" pitchFamily="18" charset="0"/>
                          <a:cs typeface="Times New Roman" panose="02020603050405020304" pitchFamily="18" charset="0"/>
                        </a:rPr>
                        <a:t>Hemagowri</a:t>
                      </a:r>
                      <a:r>
                        <a:rPr lang="en-IN" sz="1300" b="0" dirty="0">
                          <a:latin typeface="Times New Roman" panose="02020603050405020304" pitchFamily="18" charset="0"/>
                          <a:cs typeface="Times New Roman" panose="02020603050405020304" pitchFamily="18" charset="0"/>
                        </a:rPr>
                        <a:t> J , Srinidhi K , A. </a:t>
                      </a:r>
                      <a:r>
                        <a:rPr lang="en-IN" sz="1300" b="0" dirty="0" err="1">
                          <a:latin typeface="Times New Roman" panose="02020603050405020304" pitchFamily="18" charset="0"/>
                          <a:cs typeface="Times New Roman" panose="02020603050405020304" pitchFamily="18" charset="0"/>
                        </a:rPr>
                        <a:t>Faritha</a:t>
                      </a:r>
                      <a:r>
                        <a:rPr lang="en-IN" sz="1300" b="0" dirty="0">
                          <a:latin typeface="Times New Roman" panose="02020603050405020304" pitchFamily="18" charset="0"/>
                          <a:cs typeface="Times New Roman" panose="02020603050405020304" pitchFamily="18" charset="0"/>
                        </a:rPr>
                        <a:t> Banu , </a:t>
                      </a:r>
                      <a:r>
                        <a:rPr lang="en-IN" sz="1300" b="0" dirty="0" err="1">
                          <a:latin typeface="Times New Roman" panose="02020603050405020304" pitchFamily="18" charset="0"/>
                          <a:cs typeface="Times New Roman" panose="02020603050405020304" pitchFamily="18" charset="0"/>
                        </a:rPr>
                        <a:t>V.Murugesh</a:t>
                      </a:r>
                      <a:r>
                        <a:rPr lang="en-IN" sz="1300" b="0" dirty="0">
                          <a:latin typeface="Times New Roman" panose="02020603050405020304" pitchFamily="18" charset="0"/>
                          <a:cs typeface="Times New Roman" panose="02020603050405020304" pitchFamily="18" charset="0"/>
                        </a:rPr>
                        <a:t>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solidFill>
                            <a:schemeClr val="tx1"/>
                          </a:solidFill>
                          <a:latin typeface="Times New Roman" panose="02020603050405020304" pitchFamily="18" charset="0"/>
                          <a:cs typeface="Times New Roman" panose="02020603050405020304" pitchFamily="18" charset="0"/>
                        </a:rPr>
                        <a:t>2024</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1300" b="0" dirty="0">
                          <a:latin typeface="Times New Roman" panose="02020603050405020304" pitchFamily="18" charset="0"/>
                          <a:cs typeface="Times New Roman" panose="02020603050405020304" pitchFamily="18" charset="0"/>
                        </a:rPr>
                        <a:t>2024 Third International Conference on Electrical, Electronics, Information and Communication Technologies (ICEEICT)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Uses TF-IDF and Naive Bayes for text analysis. The methodology section also details a Logistic Regression model for text classification.</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combination of TF-IDF and Naive Bayes is noted to increase precision. </a:t>
                      </a:r>
                    </a:p>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model (Logistic Regression) achieved 80% accuracy and precision. </a:t>
                      </a:r>
                    </a:p>
                    <a:p>
                      <a:pPr algn="l"/>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Font typeface="Arial" panose="020B0604020202020204" pitchFamily="34" charset="0"/>
                        <a:buNone/>
                      </a:pPr>
                      <a:r>
                        <a:rPr lang="en-US" sz="1300" b="0" dirty="0">
                          <a:latin typeface="Times New Roman" panose="02020603050405020304" pitchFamily="18" charset="0"/>
                          <a:cs typeface="Times New Roman" panose="02020603050405020304" pitchFamily="18" charset="0"/>
                        </a:rPr>
                        <a:t>The model's recall score was low (approx. 0.6), meaning it failed to identify 40% of actual cyberbullying </a:t>
                      </a:r>
                      <a:r>
                        <a:rPr lang="en-US" sz="1300" b="0" dirty="0" err="1">
                          <a:latin typeface="Times New Roman" panose="02020603050405020304" pitchFamily="18" charset="0"/>
                          <a:cs typeface="Times New Roman" panose="02020603050405020304" pitchFamily="18" charset="0"/>
                        </a:rPr>
                        <a:t>incidents.</a:t>
                      </a:r>
                      <a:r>
                        <a:rPr lang="en-US" sz="1300" dirty="0" err="1">
                          <a:latin typeface="Times New Roman" panose="02020603050405020304" pitchFamily="18" charset="0"/>
                          <a:cs typeface="Times New Roman" panose="02020603050405020304" pitchFamily="18" charset="0"/>
                        </a:rPr>
                        <a:t>Future</a:t>
                      </a:r>
                      <a:r>
                        <a:rPr lang="en-US" sz="1300" dirty="0">
                          <a:latin typeface="Times New Roman" panose="02020603050405020304" pitchFamily="18" charset="0"/>
                          <a:cs typeface="Times New Roman" panose="02020603050405020304" pitchFamily="18" charset="0"/>
                        </a:rPr>
                        <a:t> work indicates a need to handle multiple languages and improve real-time detection.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2884456"/>
                  </a:ext>
                </a:extLst>
              </a:tr>
            </a:tbl>
          </a:graphicData>
        </a:graphic>
      </p:graphicFrame>
    </p:spTree>
    <p:extLst>
      <p:ext uri="{BB962C8B-B14F-4D97-AF65-F5344CB8AC3E}">
        <p14:creationId xmlns:p14="http://schemas.microsoft.com/office/powerpoint/2010/main" val="3761449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5494CD2-EEDB-9103-091E-81D5F0157B8D}"/>
              </a:ext>
            </a:extLst>
          </p:cNvPr>
          <p:cNvGraphicFramePr>
            <a:graphicFrameLocks noGrp="1"/>
          </p:cNvGraphicFramePr>
          <p:nvPr>
            <p:extLst>
              <p:ext uri="{D42A27DB-BD31-4B8C-83A1-F6EECF244321}">
                <p14:modId xmlns:p14="http://schemas.microsoft.com/office/powerpoint/2010/main" val="1449409813"/>
              </p:ext>
            </p:extLst>
          </p:nvPr>
        </p:nvGraphicFramePr>
        <p:xfrm>
          <a:off x="147551" y="76201"/>
          <a:ext cx="11896898" cy="6136666"/>
        </p:xfrm>
        <a:graphic>
          <a:graphicData uri="http://schemas.openxmlformats.org/drawingml/2006/table">
            <a:tbl>
              <a:tblPr firstRow="1" bandRow="1">
                <a:tableStyleId>{5C22544A-7EE6-4342-B048-85BDC9FD1C3A}</a:tableStyleId>
              </a:tblPr>
              <a:tblGrid>
                <a:gridCol w="415672">
                  <a:extLst>
                    <a:ext uri="{9D8B030D-6E8A-4147-A177-3AD203B41FA5}">
                      <a16:colId xmlns:a16="http://schemas.microsoft.com/office/drawing/2014/main" val="734384122"/>
                    </a:ext>
                  </a:extLst>
                </a:gridCol>
                <a:gridCol w="1679961">
                  <a:extLst>
                    <a:ext uri="{9D8B030D-6E8A-4147-A177-3AD203B41FA5}">
                      <a16:colId xmlns:a16="http://schemas.microsoft.com/office/drawing/2014/main" val="4260504402"/>
                    </a:ext>
                  </a:extLst>
                </a:gridCol>
                <a:gridCol w="1416309">
                  <a:extLst>
                    <a:ext uri="{9D8B030D-6E8A-4147-A177-3AD203B41FA5}">
                      <a16:colId xmlns:a16="http://schemas.microsoft.com/office/drawing/2014/main" val="645446120"/>
                    </a:ext>
                  </a:extLst>
                </a:gridCol>
                <a:gridCol w="564471">
                  <a:extLst>
                    <a:ext uri="{9D8B030D-6E8A-4147-A177-3AD203B41FA5}">
                      <a16:colId xmlns:a16="http://schemas.microsoft.com/office/drawing/2014/main" val="2786408666"/>
                    </a:ext>
                  </a:extLst>
                </a:gridCol>
                <a:gridCol w="1312200">
                  <a:extLst>
                    <a:ext uri="{9D8B030D-6E8A-4147-A177-3AD203B41FA5}">
                      <a16:colId xmlns:a16="http://schemas.microsoft.com/office/drawing/2014/main" val="1176542653"/>
                    </a:ext>
                  </a:extLst>
                </a:gridCol>
                <a:gridCol w="2316190">
                  <a:extLst>
                    <a:ext uri="{9D8B030D-6E8A-4147-A177-3AD203B41FA5}">
                      <a16:colId xmlns:a16="http://schemas.microsoft.com/office/drawing/2014/main" val="546879015"/>
                    </a:ext>
                  </a:extLst>
                </a:gridCol>
                <a:gridCol w="2052738">
                  <a:extLst>
                    <a:ext uri="{9D8B030D-6E8A-4147-A177-3AD203B41FA5}">
                      <a16:colId xmlns:a16="http://schemas.microsoft.com/office/drawing/2014/main" val="1193107470"/>
                    </a:ext>
                  </a:extLst>
                </a:gridCol>
                <a:gridCol w="2139357">
                  <a:extLst>
                    <a:ext uri="{9D8B030D-6E8A-4147-A177-3AD203B41FA5}">
                      <a16:colId xmlns:a16="http://schemas.microsoft.com/office/drawing/2014/main" val="1072921291"/>
                    </a:ext>
                  </a:extLst>
                </a:gridCol>
              </a:tblGrid>
              <a:tr h="662341">
                <a:tc>
                  <a:txBody>
                    <a:bodyPr/>
                    <a:lstStyle/>
                    <a:p>
                      <a:r>
                        <a:rPr lang="en-US" sz="1300" b="1" dirty="0">
                          <a:solidFill>
                            <a:schemeClr val="tx1"/>
                          </a:solidFill>
                          <a:latin typeface="Times New Roman" panose="02020603050405020304" pitchFamily="18" charset="0"/>
                          <a:cs typeface="Times New Roman" panose="02020603050405020304" pitchFamily="18" charset="0"/>
                        </a:rPr>
                        <a:t>Sl. </a:t>
                      </a:r>
                    </a:p>
                    <a:p>
                      <a:r>
                        <a:rPr lang="en-US" sz="1300" b="1" dirty="0">
                          <a:solidFill>
                            <a:schemeClr val="tx1"/>
                          </a:solidFill>
                          <a:latin typeface="Times New Roman" panose="02020603050405020304" pitchFamily="18" charset="0"/>
                          <a:cs typeface="Times New Roman" panose="02020603050405020304" pitchFamily="18" charset="0"/>
                        </a:rPr>
                        <a:t>No .</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Title</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Author</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Year</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Publication</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Methodology</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US" sz="1300" b="1" dirty="0">
                          <a:solidFill>
                            <a:schemeClr val="tx1"/>
                          </a:solidFill>
                          <a:latin typeface="Times New Roman" panose="02020603050405020304" pitchFamily="18" charset="0"/>
                          <a:cs typeface="Times New Roman" panose="02020603050405020304" pitchFamily="18" charset="0"/>
                        </a:rPr>
                        <a:t>Advantages</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US" sz="1300" b="1" dirty="0">
                          <a:solidFill>
                            <a:schemeClr val="tx1"/>
                          </a:solidFill>
                          <a:latin typeface="Times New Roman" panose="02020603050405020304" pitchFamily="18" charset="0"/>
                          <a:cs typeface="Times New Roman" panose="02020603050405020304" pitchFamily="18" charset="0"/>
                        </a:rPr>
                        <a:t>Limitations</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690521"/>
                  </a:ext>
                </a:extLst>
              </a:tr>
              <a:tr h="1698170">
                <a:tc>
                  <a:txBody>
                    <a:bodyPr/>
                    <a:lstStyle/>
                    <a:p>
                      <a:r>
                        <a:rPr lang="en-US" sz="1300" b="0" dirty="0">
                          <a:solidFill>
                            <a:schemeClr val="tx1"/>
                          </a:solidFill>
                          <a:latin typeface="Times New Roman" panose="02020603050405020304" pitchFamily="18" charset="0"/>
                          <a:cs typeface="Times New Roman" panose="02020603050405020304" pitchFamily="18" charset="0"/>
                        </a:rPr>
                        <a:t>3.</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Integrating Link Prediction and Comment Analysis for Enhanced Cyberbullying Detection in Online Social Interactions</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300" b="0" dirty="0" err="1">
                          <a:solidFill>
                            <a:schemeClr val="tx1"/>
                          </a:solidFill>
                          <a:latin typeface="Times New Roman" panose="02020603050405020304" pitchFamily="18" charset="0"/>
                          <a:cs typeface="Times New Roman" panose="02020603050405020304" pitchFamily="18" charset="0"/>
                        </a:rPr>
                        <a:t>Vishav</a:t>
                      </a:r>
                      <a:r>
                        <a:rPr lang="en-IN" sz="1300" b="0" dirty="0">
                          <a:solidFill>
                            <a:schemeClr val="tx1"/>
                          </a:solidFill>
                          <a:latin typeface="Times New Roman" panose="02020603050405020304" pitchFamily="18" charset="0"/>
                          <a:cs typeface="Times New Roman" panose="02020603050405020304" pitchFamily="18" charset="0"/>
                        </a:rPr>
                        <a:t> Bharat Pal , Pushparaj Shetty 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2024</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300" b="0" dirty="0">
                          <a:solidFill>
                            <a:schemeClr val="tx1"/>
                          </a:solidFill>
                          <a:latin typeface="Times New Roman" panose="02020603050405020304" pitchFamily="18" charset="0"/>
                          <a:cs typeface="Times New Roman" panose="02020603050405020304" pitchFamily="18" charset="0"/>
                        </a:rPr>
                        <a:t>2024 IEEE International Conference on Electronics, Computing and Communication Technologies (CONECCT)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A framework that integrates Link Prediction with a cyberbullying detection model It introduces a 'Connection Probability (CP)' to assess user relationships and uses Comment Analysis for posts.</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Provides a comprehensive solution that considers the relationship between </a:t>
                      </a:r>
                      <a:r>
                        <a:rPr lang="en-US" sz="1300" b="0" dirty="0" err="1">
                          <a:solidFill>
                            <a:schemeClr val="tx1"/>
                          </a:solidFill>
                          <a:latin typeface="Times New Roman" panose="02020603050405020304" pitchFamily="18" charset="0"/>
                          <a:cs typeface="Times New Roman" panose="02020603050405020304" pitchFamily="18" charset="0"/>
                        </a:rPr>
                        <a:t>users.Can</a:t>
                      </a:r>
                      <a:r>
                        <a:rPr lang="en-US" sz="1300" b="0" dirty="0">
                          <a:solidFill>
                            <a:schemeClr val="tx1"/>
                          </a:solidFill>
                          <a:latin typeface="Times New Roman" panose="02020603050405020304" pitchFamily="18" charset="0"/>
                          <a:cs typeface="Times New Roman" panose="02020603050405020304" pitchFamily="18" charset="0"/>
                        </a:rPr>
                        <a:t> be used to optimize friend recommendation systems.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Assumptions about user relationships are a simplification and could be refined.</a:t>
                      </a:r>
                    </a:p>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Future work suggests exploring more advanced models for higher accuracy.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012701"/>
                  </a:ext>
                </a:extLst>
              </a:tr>
              <a:tr h="1810398">
                <a:tc>
                  <a:txBody>
                    <a:bodyPr/>
                    <a:lstStyle/>
                    <a:p>
                      <a:r>
                        <a:rPr lang="en-US" sz="1300" b="0" dirty="0">
                          <a:solidFill>
                            <a:schemeClr val="tx1"/>
                          </a:solidFill>
                          <a:latin typeface="Times New Roman" panose="02020603050405020304" pitchFamily="18" charset="0"/>
                          <a:cs typeface="Times New Roman" panose="02020603050405020304" pitchFamily="18" charset="0"/>
                        </a:rPr>
                        <a:t>4.</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latin typeface="Times New Roman" panose="02020603050405020304" pitchFamily="18" charset="0"/>
                          <a:cs typeface="Times New Roman" panose="02020603050405020304" pitchFamily="18" charset="0"/>
                        </a:rPr>
                        <a:t>Detection of Cyberbullying in Online Comments Latest Advances and Challenges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300" b="0" dirty="0">
                          <a:latin typeface="Times New Roman" panose="02020603050405020304" pitchFamily="18" charset="0"/>
                          <a:cs typeface="Times New Roman" panose="02020603050405020304" pitchFamily="18" charset="0"/>
                        </a:rPr>
                        <a:t>Lina Feriel </a:t>
                      </a:r>
                      <a:r>
                        <a:rPr lang="en-IN" sz="1300" b="0" dirty="0" err="1">
                          <a:latin typeface="Times New Roman" panose="02020603050405020304" pitchFamily="18" charset="0"/>
                          <a:cs typeface="Times New Roman" panose="02020603050405020304" pitchFamily="18" charset="0"/>
                        </a:rPr>
                        <a:t>Benassou</a:t>
                      </a:r>
                      <a:r>
                        <a:rPr lang="en-IN" sz="1300" b="0" dirty="0">
                          <a:latin typeface="Times New Roman" panose="02020603050405020304" pitchFamily="18" charset="0"/>
                          <a:cs typeface="Times New Roman" panose="02020603050405020304" pitchFamily="18" charset="0"/>
                        </a:rPr>
                        <a:t>, Safa </a:t>
                      </a:r>
                      <a:r>
                        <a:rPr lang="en-IN" sz="1300" b="0" dirty="0" err="1">
                          <a:latin typeface="Times New Roman" panose="02020603050405020304" pitchFamily="18" charset="0"/>
                          <a:cs typeface="Times New Roman" panose="02020603050405020304" pitchFamily="18" charset="0"/>
                        </a:rPr>
                        <a:t>Bendaouia</a:t>
                      </a:r>
                      <a:r>
                        <a:rPr lang="en-IN" sz="1300" b="0" dirty="0">
                          <a:latin typeface="Times New Roman" panose="02020603050405020304" pitchFamily="18" charset="0"/>
                          <a:cs typeface="Times New Roman" panose="02020603050405020304" pitchFamily="18" charset="0"/>
                        </a:rPr>
                        <a:t>, Osman Salem, Ahmed </a:t>
                      </a:r>
                      <a:r>
                        <a:rPr lang="en-IN" sz="1300" b="0" dirty="0" err="1">
                          <a:latin typeface="Times New Roman" panose="02020603050405020304" pitchFamily="18" charset="0"/>
                          <a:cs typeface="Times New Roman" panose="02020603050405020304" pitchFamily="18" charset="0"/>
                        </a:rPr>
                        <a:t>Mehaoua</a:t>
                      </a:r>
                      <a:r>
                        <a:rPr lang="en-IN" sz="1300" b="0" dirty="0">
                          <a:latin typeface="Times New Roman" panose="02020603050405020304" pitchFamily="18" charset="0"/>
                          <a:cs typeface="Times New Roman" panose="02020603050405020304" pitchFamily="18" charset="0"/>
                        </a:rPr>
                        <a:t>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202</a:t>
                      </a:r>
                      <a:r>
                        <a:rPr lang="en-IN" sz="1300" b="0" dirty="0">
                          <a:solidFill>
                            <a:schemeClr val="tx1"/>
                          </a:solidFill>
                          <a:latin typeface="Times New Roman" panose="02020603050405020304" pitchFamily="18" charset="0"/>
                          <a:cs typeface="Times New Roman" panose="02020603050405020304" pitchFamily="18" charset="0"/>
                        </a:rPr>
                        <a:t>3</a:t>
                      </a:r>
                      <a:endParaRPr lang="en-US"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latin typeface="Times New Roman" panose="02020603050405020304" pitchFamily="18" charset="0"/>
                          <a:cs typeface="Times New Roman" panose="02020603050405020304" pitchFamily="18" charset="0"/>
                        </a:rPr>
                        <a:t>2023 IEEE International Conference on E-health Networking, Application &amp; Services (</a:t>
                      </a:r>
                      <a:r>
                        <a:rPr lang="en-US" sz="1300" b="0" dirty="0" err="1">
                          <a:latin typeface="Times New Roman" panose="02020603050405020304" pitchFamily="18" charset="0"/>
                          <a:cs typeface="Times New Roman" panose="02020603050405020304" pitchFamily="18" charset="0"/>
                        </a:rPr>
                        <a:t>Healthcom</a:t>
                      </a:r>
                      <a:r>
                        <a:rPr lang="en-US" sz="1300" b="0" dirty="0">
                          <a:latin typeface="Times New Roman" panose="02020603050405020304" pitchFamily="18" charset="0"/>
                          <a:cs typeface="Times New Roman" panose="02020603050405020304" pitchFamily="18" charset="0"/>
                        </a:rPr>
                        <a:t>)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latin typeface="Times New Roman" panose="02020603050405020304" pitchFamily="18" charset="0"/>
                          <a:cs typeface="Times New Roman" panose="02020603050405020304" pitchFamily="18" charset="0"/>
                        </a:rPr>
                        <a:t>Uses TF-IDF for word embedding. Employs a Stacked Model that combines three base models: Random Forest, Gradient Boosting , and Support Vector Machine. Logistic Regression is used as the final estimator to combine the predictions.</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Stacked Model achieved a high accuracy of 98%. </a:t>
                      </a:r>
                    </a:p>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It outperformed other individual models like Extra Trees, Ada Boost, and Decision Tree.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model cannot eliminate the risk of false positives and false negatives. </a:t>
                      </a:r>
                    </a:p>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Struggles with subtleties in language like sarcasm and metaphors. </a:t>
                      </a:r>
                    </a:p>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Needs to be adapted for multilingual datasets.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3708104"/>
                  </a:ext>
                </a:extLst>
              </a:tr>
              <a:tr h="1878176">
                <a:tc>
                  <a:txBody>
                    <a:bodyPr/>
                    <a:lstStyle/>
                    <a:p>
                      <a:r>
                        <a:rPr lang="en-US" sz="1300" b="0" dirty="0">
                          <a:solidFill>
                            <a:schemeClr val="tx1"/>
                          </a:solidFill>
                          <a:latin typeface="Times New Roman" panose="02020603050405020304" pitchFamily="18" charset="0"/>
                          <a:cs typeface="Times New Roman" panose="02020603050405020304" pitchFamily="18" charset="0"/>
                        </a:rPr>
                        <a:t>5.</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Analysis of Tweets for Cyberbullying Detection</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300" b="0" dirty="0">
                          <a:solidFill>
                            <a:schemeClr val="tx1"/>
                          </a:solidFill>
                          <a:latin typeface="Times New Roman" panose="02020603050405020304" pitchFamily="18" charset="0"/>
                          <a:cs typeface="Times New Roman" panose="02020603050405020304" pitchFamily="18" charset="0"/>
                        </a:rPr>
                        <a:t>Shipra Anil Mathur , Bhuvaneswar </a:t>
                      </a:r>
                      <a:r>
                        <a:rPr lang="en-IN" sz="1300" b="0" dirty="0" err="1">
                          <a:solidFill>
                            <a:schemeClr val="tx1"/>
                          </a:solidFill>
                          <a:latin typeface="Times New Roman" panose="02020603050405020304" pitchFamily="18" charset="0"/>
                          <a:cs typeface="Times New Roman" panose="02020603050405020304" pitchFamily="18" charset="0"/>
                        </a:rPr>
                        <a:t>Dharmasivam</a:t>
                      </a:r>
                      <a:r>
                        <a:rPr lang="en-IN" sz="1300" b="0" dirty="0">
                          <a:solidFill>
                            <a:schemeClr val="tx1"/>
                          </a:solidFill>
                          <a:latin typeface="Times New Roman" panose="02020603050405020304" pitchFamily="18" charset="0"/>
                          <a:cs typeface="Times New Roman" panose="02020603050405020304" pitchFamily="18" charset="0"/>
                        </a:rPr>
                        <a:t> , Shivam </a:t>
                      </a:r>
                      <a:r>
                        <a:rPr lang="en-IN" sz="1300" b="0" dirty="0" err="1">
                          <a:solidFill>
                            <a:schemeClr val="tx1"/>
                          </a:solidFill>
                          <a:latin typeface="Times New Roman" panose="02020603050405020304" pitchFamily="18" charset="0"/>
                          <a:cs typeface="Times New Roman" panose="02020603050405020304" pitchFamily="18" charset="0"/>
                        </a:rPr>
                        <a:t>Isarka</a:t>
                      </a:r>
                      <a:r>
                        <a:rPr lang="en-IN" sz="1300" b="0" dirty="0">
                          <a:solidFill>
                            <a:schemeClr val="tx1"/>
                          </a:solidFill>
                          <a:latin typeface="Times New Roman" panose="02020603050405020304" pitchFamily="18" charset="0"/>
                          <a:cs typeface="Times New Roman" panose="02020603050405020304" pitchFamily="18" charset="0"/>
                        </a:rPr>
                        <a:t> , </a:t>
                      </a:r>
                      <a:r>
                        <a:rPr lang="en-IN" sz="1300" b="0" dirty="0" err="1">
                          <a:solidFill>
                            <a:schemeClr val="tx1"/>
                          </a:solidFill>
                          <a:latin typeface="Times New Roman" panose="02020603050405020304" pitchFamily="18" charset="0"/>
                          <a:cs typeface="Times New Roman" panose="02020603050405020304" pitchFamily="18" charset="0"/>
                        </a:rPr>
                        <a:t>Jaidhar</a:t>
                      </a:r>
                      <a:r>
                        <a:rPr lang="en-IN" sz="1300" b="0" dirty="0">
                          <a:solidFill>
                            <a:schemeClr val="tx1"/>
                          </a:solidFill>
                          <a:latin typeface="Times New Roman" panose="02020603050405020304" pitchFamily="18" charset="0"/>
                          <a:cs typeface="Times New Roman" panose="02020603050405020304" pitchFamily="18" charset="0"/>
                        </a:rPr>
                        <a:t> C. 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2023</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2023 Third International Conference on Secure Cyber Computing and Communication (ICSCCC)</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A real-time system using Selenium to scrape tweets. It uses TF-IDF and compares ML models ,finding Tuned Random Forest to be the best. Also uses an image captioning model to filter spam by comparing captions.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US" sz="1300" b="0" dirty="0">
                          <a:solidFill>
                            <a:schemeClr val="tx1"/>
                          </a:solidFill>
                          <a:latin typeface="Times New Roman" panose="02020603050405020304" pitchFamily="18" charset="0"/>
                          <a:cs typeface="Times New Roman" panose="02020603050405020304" pitchFamily="18" charset="0"/>
                        </a:rPr>
                        <a:t>The Tuned Random Forest model achieved the highest accuracy at 94.06%. The system operates in real-time on Twitter </a:t>
                      </a:r>
                      <a:r>
                        <a:rPr lang="en-US" sz="1300" b="0" dirty="0" err="1">
                          <a:solidFill>
                            <a:schemeClr val="tx1"/>
                          </a:solidFill>
                          <a:latin typeface="Times New Roman" panose="02020603050405020304" pitchFamily="18" charset="0"/>
                          <a:cs typeface="Times New Roman" panose="02020603050405020304" pitchFamily="18" charset="0"/>
                        </a:rPr>
                        <a:t>data.Includes</a:t>
                      </a:r>
                      <a:r>
                        <a:rPr lang="en-US" sz="1300" b="0" dirty="0">
                          <a:solidFill>
                            <a:schemeClr val="tx1"/>
                          </a:solidFill>
                          <a:latin typeface="Times New Roman" panose="02020603050405020304" pitchFamily="18" charset="0"/>
                          <a:cs typeface="Times New Roman" panose="02020603050405020304" pitchFamily="18" charset="0"/>
                        </a:rPr>
                        <a:t> a novel method to filter spam tweets using image caption analysis.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latin typeface="Times New Roman" panose="02020603050405020304" pitchFamily="18" charset="0"/>
                          <a:cs typeface="Times New Roman" panose="02020603050405020304" pitchFamily="18" charset="0"/>
                        </a:rPr>
                        <a:t>The conclusion implies it struggles with subtle forms of cyberbullying, such as sarcasm and irony.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6073915"/>
                  </a:ext>
                </a:extLst>
              </a:tr>
            </a:tbl>
          </a:graphicData>
        </a:graphic>
      </p:graphicFrame>
    </p:spTree>
    <p:extLst>
      <p:ext uri="{BB962C8B-B14F-4D97-AF65-F5344CB8AC3E}">
        <p14:creationId xmlns:p14="http://schemas.microsoft.com/office/powerpoint/2010/main" val="1567128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E0A6C-5FD0-D61D-0BB3-E22107BD4F6F}"/>
              </a:ext>
            </a:extLst>
          </p:cNvPr>
          <p:cNvSpPr>
            <a:spLocks noGrp="1"/>
          </p:cNvSpPr>
          <p:nvPr>
            <p:ph type="title"/>
          </p:nvPr>
        </p:nvSpPr>
        <p:spPr>
          <a:xfrm>
            <a:off x="1097280" y="694991"/>
            <a:ext cx="10058400" cy="748454"/>
          </a:xfrm>
        </p:spPr>
        <p:txBody>
          <a:bodyPr/>
          <a:lstStyle/>
          <a:p>
            <a:pPr algn="ctr"/>
            <a:r>
              <a:rPr lang="en-US" b="1" spc="-10" dirty="0">
                <a:latin typeface="Times New Roman" panose="02020603050405020304" pitchFamily="18" charset="0"/>
                <a:cs typeface="Times New Roman" panose="02020603050405020304" pitchFamily="18" charset="0"/>
              </a:rPr>
              <a:t>OBJECTIVES</a:t>
            </a:r>
            <a:endParaRPr lang="en-IN" dirty="0"/>
          </a:p>
        </p:txBody>
      </p:sp>
      <p:sp>
        <p:nvSpPr>
          <p:cNvPr id="3" name="Content Placeholder 2">
            <a:extLst>
              <a:ext uri="{FF2B5EF4-FFF2-40B4-BE49-F238E27FC236}">
                <a16:creationId xmlns:a16="http://schemas.microsoft.com/office/drawing/2014/main" id="{2922A038-AF2B-4897-11B5-BB7BFC94C265}"/>
              </a:ext>
            </a:extLst>
          </p:cNvPr>
          <p:cNvSpPr>
            <a:spLocks noGrp="1"/>
          </p:cNvSpPr>
          <p:nvPr>
            <p:ph idx="1"/>
          </p:nvPr>
        </p:nvSpPr>
        <p:spPr/>
        <p:txBody>
          <a:bodyPr/>
          <a:lstStyle/>
          <a:p>
            <a:pPr marL="457200" indent="-457200" algn="just">
              <a:buFont typeface="+mj-lt"/>
              <a:buAutoNum type="arabicPeriod"/>
            </a:pPr>
            <a:r>
              <a:rPr lang="en-US" sz="2400" b="1" dirty="0">
                <a:latin typeface="Times New Roman" panose="02020603050405020304" pitchFamily="18" charset="0"/>
                <a:cs typeface="Times New Roman" panose="02020603050405020304" pitchFamily="18" charset="0"/>
              </a:rPr>
              <a:t>Multi-Level Toxicity Classification:</a:t>
            </a:r>
            <a:r>
              <a:rPr lang="en-US" sz="2400" dirty="0">
                <a:latin typeface="Times New Roman" panose="02020603050405020304" pitchFamily="18" charset="0"/>
                <a:cs typeface="Times New Roman" panose="02020603050405020304" pitchFamily="18" charset="0"/>
              </a:rPr>
              <a:t> Implement a classification framework capable of identifying three distinct levels of toxicity—low, medium, and intensive—to provide a detailed understanding of the severity and nature of abusive content.</a:t>
            </a:r>
          </a:p>
          <a:p>
            <a:pPr marL="457200" indent="-457200" algn="just">
              <a:buFont typeface="+mj-lt"/>
              <a:buAutoNum type="arabicPeriod"/>
            </a:pPr>
            <a:r>
              <a:rPr lang="en-US" sz="2400" b="1" dirty="0">
                <a:latin typeface="Times New Roman" panose="02020603050405020304" pitchFamily="18" charset="0"/>
                <a:cs typeface="Times New Roman" panose="02020603050405020304" pitchFamily="18" charset="0"/>
              </a:rPr>
              <a:t>Dynamic User Reputation Scoring: </a:t>
            </a:r>
            <a:r>
              <a:rPr lang="en-US" sz="2400" dirty="0">
                <a:latin typeface="Times New Roman" panose="02020603050405020304" pitchFamily="18" charset="0"/>
                <a:cs typeface="Times New Roman" panose="02020603050405020304" pitchFamily="18" charset="0"/>
              </a:rPr>
              <a:t>Implement an adaptive reputation score system that adjusts based on the detected level of toxicity, reflecting user behavior trends and accountability over time.</a:t>
            </a:r>
          </a:p>
          <a:p>
            <a:pPr marL="457200" indent="-457200" algn="just">
              <a:buFont typeface="+mj-lt"/>
              <a:buAutoNum type="arabicPeriod"/>
            </a:pPr>
            <a:r>
              <a:rPr lang="en-US" sz="2400" b="1" dirty="0">
                <a:latin typeface="Times New Roman" panose="02020603050405020304" pitchFamily="18" charset="0"/>
                <a:ea typeface="Tahoma" panose="020B0604030504040204" pitchFamily="34" charset="0"/>
                <a:cs typeface="Times New Roman" panose="02020603050405020304" pitchFamily="18" charset="0"/>
              </a:rPr>
              <a:t>Automated Preventive Mechanism: </a:t>
            </a:r>
            <a:r>
              <a:rPr lang="en-US" sz="2400" dirty="0">
                <a:latin typeface="Times New Roman" panose="02020603050405020304" pitchFamily="18" charset="0"/>
                <a:ea typeface="Tahoma" panose="020B0604030504040204" pitchFamily="34" charset="0"/>
                <a:cs typeface="Times New Roman" panose="02020603050405020304" pitchFamily="18" charset="0"/>
              </a:rPr>
              <a:t>Introduce an automated blocking or restriction system that takes action against users whose reputation score falls below a specific threshold, reducing recurring instances of cyberbullying.</a:t>
            </a:r>
            <a:endParaRPr lang="en-IN" sz="2400" dirty="0">
              <a:latin typeface="Times New Roman" panose="02020603050405020304" pitchFamily="18" charset="0"/>
              <a:ea typeface="Tahoma" panose="020B060403050404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283628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981D0-7374-AA2E-BCEA-9B739072EA11}"/>
              </a:ext>
            </a:extLst>
          </p:cNvPr>
          <p:cNvSpPr>
            <a:spLocks noGrp="1"/>
          </p:cNvSpPr>
          <p:nvPr>
            <p:ph type="title"/>
          </p:nvPr>
        </p:nvSpPr>
        <p:spPr>
          <a:xfrm>
            <a:off x="1097280" y="533883"/>
            <a:ext cx="10058400" cy="910046"/>
          </a:xfrm>
        </p:spPr>
        <p:txBody>
          <a:bodyPr/>
          <a:lstStyle/>
          <a:p>
            <a:pPr algn="ctr"/>
            <a:r>
              <a:rPr lang="en-US" b="1" spc="-10" dirty="0">
                <a:latin typeface="Times New Roman" panose="02020603050405020304" pitchFamily="18" charset="0"/>
                <a:cs typeface="Times New Roman" panose="02020603050405020304" pitchFamily="18" charset="0"/>
              </a:rPr>
              <a:t> SYSTEM MODEL</a:t>
            </a:r>
            <a:endParaRPr lang="en-IN" dirty="0"/>
          </a:p>
        </p:txBody>
      </p:sp>
      <p:sp>
        <p:nvSpPr>
          <p:cNvPr id="3" name="Content Placeholder 2">
            <a:extLst>
              <a:ext uri="{FF2B5EF4-FFF2-40B4-BE49-F238E27FC236}">
                <a16:creationId xmlns:a16="http://schemas.microsoft.com/office/drawing/2014/main" id="{9C3C8870-25F5-A3A1-7147-BB172E206222}"/>
              </a:ext>
            </a:extLst>
          </p:cNvPr>
          <p:cNvSpPr>
            <a:spLocks noGrp="1"/>
          </p:cNvSpPr>
          <p:nvPr>
            <p:ph idx="1"/>
          </p:nvPr>
        </p:nvSpPr>
        <p:spPr/>
        <p:txBody>
          <a:bodyPr/>
          <a:lstStyle/>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Collection: </a:t>
            </a:r>
            <a:r>
              <a:rPr lang="en-US" dirty="0">
                <a:latin typeface="Times New Roman" panose="02020603050405020304" pitchFamily="18" charset="0"/>
                <a:cs typeface="Times New Roman" panose="02020603050405020304" pitchFamily="18" charset="0"/>
              </a:rPr>
              <a:t>The system extracts textual content from popular social media platforms to capture diverse forms of communication. </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Input Categorization and Preprocessing: </a:t>
            </a:r>
            <a:r>
              <a:rPr lang="en-US" dirty="0">
                <a:latin typeface="Times New Roman" panose="02020603050405020304" pitchFamily="18" charset="0"/>
                <a:cs typeface="Times New Roman" panose="02020603050405020304" pitchFamily="18" charset="0"/>
              </a:rPr>
              <a:t>Text undergoes standard cleaning, tokenization, stop-word removal. </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Feature Extraction and Selection: </a:t>
            </a:r>
            <a:r>
              <a:rPr lang="en-US" dirty="0">
                <a:latin typeface="Times New Roman" panose="02020603050405020304" pitchFamily="18" charset="0"/>
                <a:cs typeface="Times New Roman" panose="02020603050405020304" pitchFamily="18" charset="0"/>
              </a:rPr>
              <a:t>A feature selection process filters out the most relevant data for classification. </a:t>
            </a:r>
          </a:p>
          <a:p>
            <a:pPr algn="just">
              <a:buFont typeface="Arial" panose="020B0604020202020204" pitchFamily="34" charset="0"/>
              <a:buChar char="•"/>
            </a:pPr>
            <a:r>
              <a:rPr lang="en-US" b="1" dirty="0">
                <a:latin typeface="Times New Roman" panose="02020603050405020304" pitchFamily="18" charset="0"/>
                <a:ea typeface="Tahoma" panose="020B0604030504040204" pitchFamily="34" charset="0"/>
                <a:cs typeface="Times New Roman" panose="02020603050405020304" pitchFamily="18" charset="0"/>
              </a:rPr>
              <a:t>Deep Learning-Based Classification: </a:t>
            </a:r>
            <a:r>
              <a:rPr lang="en-US" dirty="0">
                <a:latin typeface="Times New Roman" panose="02020603050405020304" pitchFamily="18" charset="0"/>
                <a:ea typeface="Tahoma" panose="020B0604030504040204" pitchFamily="34" charset="0"/>
                <a:cs typeface="Times New Roman" panose="02020603050405020304" pitchFamily="18" charset="0"/>
              </a:rPr>
              <a:t>A custom Bi-LSTM model analyzes text features and cyberbullying-related keywords to detect harmful or abusive content accurately.</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Three-Level Toxicity Output: </a:t>
            </a:r>
            <a:r>
              <a:rPr lang="en-US" dirty="0">
                <a:latin typeface="Times New Roman" panose="02020603050405020304" pitchFamily="18" charset="0"/>
                <a:cs typeface="Times New Roman" panose="02020603050405020304" pitchFamily="18" charset="0"/>
              </a:rPr>
              <a:t>The system classifies each post into Low(reputation score: -0.5), Medium (reputation score: -1.0), or Intensive (reputation score: -2.0) toxicity levels, reflecting the severity of bullying behavior.</a:t>
            </a:r>
          </a:p>
          <a:p>
            <a:pPr algn="just"/>
            <a:endParaRPr lang="en-US" dirty="0">
              <a:latin typeface="Times New Roman" panose="02020603050405020304" pitchFamily="18" charset="0"/>
              <a:ea typeface="Tahoma" panose="020B060403050404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54809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383A6025-1AE9-BE7F-5A8B-7B35B383B0D1}"/>
              </a:ext>
            </a:extLst>
          </p:cNvPr>
          <p:cNvSpPr txBox="1">
            <a:spLocks/>
          </p:cNvSpPr>
          <p:nvPr/>
        </p:nvSpPr>
        <p:spPr>
          <a:xfrm>
            <a:off x="838200" y="1098006"/>
            <a:ext cx="10515600" cy="4378960"/>
          </a:xfrm>
          <a:prstGeom prst="rect">
            <a:avLst/>
          </a:prstGeom>
        </p:spPr>
        <p:txBody>
          <a:bodyPr>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sz="2800" b="1" dirty="0">
                <a:latin typeface="Times New Roman" panose="02020603050405020304" pitchFamily="18" charset="0"/>
                <a:cs typeface="Times New Roman" panose="02020603050405020304" pitchFamily="18" charset="0"/>
              </a:rPr>
              <a:t>Implementation of Bi-Directional LSTM Algorithm</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Input Sequence Processing: </a:t>
            </a:r>
            <a:r>
              <a:rPr lang="en-US" sz="2600" dirty="0">
                <a:latin typeface="Times New Roman" panose="02020603050405020304" pitchFamily="18" charset="0"/>
                <a:cs typeface="Times New Roman" panose="02020603050405020304" pitchFamily="18" charset="0"/>
              </a:rPr>
              <a:t>The text is converted into numerical form (tokens → padded sequences) so that the model can read it.</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Forward LSTM Pass: </a:t>
            </a:r>
            <a:r>
              <a:rPr lang="en-US" sz="2600" dirty="0">
                <a:latin typeface="Times New Roman" panose="02020603050405020304" pitchFamily="18" charset="0"/>
                <a:cs typeface="Times New Roman" panose="02020603050405020304" pitchFamily="18" charset="0"/>
              </a:rPr>
              <a:t>One LSTM reads the sequence from left to right and learns context from the past words.</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Backward LSTM Pass: </a:t>
            </a:r>
            <a:r>
              <a:rPr lang="en-US" sz="2600" dirty="0">
                <a:latin typeface="Times New Roman" panose="02020603050405020304" pitchFamily="18" charset="0"/>
                <a:cs typeface="Times New Roman" panose="02020603050405020304" pitchFamily="18" charset="0"/>
              </a:rPr>
              <a:t>Another LSTM reads the sequence from right to left and learns context from future words.</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Combine Both Directions: </a:t>
            </a:r>
            <a:r>
              <a:rPr lang="en-US" sz="2600" dirty="0">
                <a:latin typeface="Times New Roman" panose="02020603050405020304" pitchFamily="18" charset="0"/>
                <a:cs typeface="Times New Roman" panose="02020603050405020304" pitchFamily="18" charset="0"/>
              </a:rPr>
              <a:t>The outputs of the forward and backward LSTMs are </a:t>
            </a:r>
            <a:r>
              <a:rPr lang="en-US" sz="2600" b="1" dirty="0">
                <a:latin typeface="Times New Roman" panose="02020603050405020304" pitchFamily="18" charset="0"/>
                <a:cs typeface="Times New Roman" panose="02020603050405020304" pitchFamily="18" charset="0"/>
              </a:rPr>
              <a:t>merged (concatenated)</a:t>
            </a:r>
            <a:r>
              <a:rPr lang="en-US" sz="2600" dirty="0">
                <a:latin typeface="Times New Roman" panose="02020603050405020304" pitchFamily="18" charset="0"/>
                <a:cs typeface="Times New Roman" panose="02020603050405020304" pitchFamily="18" charset="0"/>
              </a:rPr>
              <a:t> to capture complete bidirectional context.</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Classification Layer: </a:t>
            </a:r>
            <a:r>
              <a:rPr lang="en-US" sz="2600" dirty="0">
                <a:latin typeface="Times New Roman" panose="02020603050405020304" pitchFamily="18" charset="0"/>
                <a:cs typeface="Times New Roman" panose="02020603050405020304" pitchFamily="18" charset="0"/>
              </a:rPr>
              <a:t>The combined features are passed through Dense layers for the final prediction (e.g., toxic vs. non-toxic, positive vs. negative).</a:t>
            </a:r>
          </a:p>
          <a:p>
            <a:pPr marL="457200" indent="-457200" algn="just">
              <a:buFont typeface="+mj-lt"/>
              <a:buAutoNum type="arabicPeriod"/>
            </a:pPr>
            <a:endParaRPr lang="en-US" sz="2400" dirty="0"/>
          </a:p>
          <a:p>
            <a:pPr marL="457200" indent="-457200" algn="just">
              <a:buFont typeface="+mj-lt"/>
              <a:buAutoNum type="arabicPeriod"/>
            </a:pPr>
            <a:endParaRPr lang="en-US" sz="2400" dirty="0"/>
          </a:p>
          <a:p>
            <a:pPr marL="457200" indent="-457200" algn="just">
              <a:buFont typeface="+mj-lt"/>
              <a:buAutoNum type="arabicPeriod"/>
            </a:pPr>
            <a:endParaRPr lang="en-US" sz="2400" dirty="0"/>
          </a:p>
          <a:p>
            <a:pPr marL="457200" indent="-457200" algn="just">
              <a:buFont typeface="+mj-lt"/>
              <a:buAutoNum type="arabicPeriod"/>
            </a:pPr>
            <a:endParaRPr lang="en-US" sz="2400" dirty="0">
              <a:latin typeface="Times New Roman" panose="02020603050405020304" pitchFamily="18" charset="0"/>
              <a:cs typeface="Times New Roman" panose="02020603050405020304" pitchFamily="18" charset="0"/>
            </a:endParaRPr>
          </a:p>
          <a:p>
            <a:pPr marL="0" indent="0">
              <a:buFont typeface="Calibri" panose="020F0502020204030204" pitchFamily="34" charset="0"/>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5872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B4BFCC0-27F0-2B30-CBD4-CE74206EC1D9}"/>
              </a:ext>
            </a:extLst>
          </p:cNvPr>
          <p:cNvSpPr txBox="1">
            <a:spLocks/>
          </p:cNvSpPr>
          <p:nvPr/>
        </p:nvSpPr>
        <p:spPr>
          <a:xfrm>
            <a:off x="838200" y="1209040"/>
            <a:ext cx="10515600" cy="443992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Font typeface="Calibri" panose="020F0502020204030204" pitchFamily="34" charset="0"/>
              <a:buNone/>
            </a:pPr>
            <a:r>
              <a:rPr lang="en-US" sz="2700" b="1" dirty="0">
                <a:latin typeface="Times New Roman" panose="02020603050405020304" pitchFamily="18" charset="0"/>
                <a:cs typeface="Times New Roman" panose="02020603050405020304" pitchFamily="18" charset="0"/>
              </a:rPr>
              <a:t>Sequential Model with different layers </a:t>
            </a:r>
          </a:p>
          <a:p>
            <a:pPr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Converts each word into a dense 64-dimensional vector so the model can understand meaning and semantic relationships between words.</a:t>
            </a:r>
          </a:p>
          <a:p>
            <a:pPr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Processes text from both directions (forward + backward), capturing full context, long-term dependencies, and improving understanding of toxic patterns in sentences.</a:t>
            </a:r>
          </a:p>
          <a:p>
            <a:pPr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A Dense(32, </a:t>
            </a:r>
            <a:r>
              <a:rPr lang="en-US" sz="2500" dirty="0" err="1">
                <a:latin typeface="Times New Roman" panose="02020603050405020304" pitchFamily="18" charset="0"/>
                <a:cs typeface="Times New Roman" panose="02020603050405020304" pitchFamily="18" charset="0"/>
              </a:rPr>
              <a:t>ReLU</a:t>
            </a:r>
            <a:r>
              <a:rPr lang="en-US" sz="2500" dirty="0">
                <a:latin typeface="Times New Roman" panose="02020603050405020304" pitchFamily="18" charset="0"/>
                <a:cs typeface="Times New Roman" panose="02020603050405020304" pitchFamily="18" charset="0"/>
              </a:rPr>
              <a:t>) layer learns deeper patterns, and Dropout(0.4) prevents overfitting by randomly disabling neurons during training.</a:t>
            </a:r>
          </a:p>
          <a:p>
            <a:pPr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A Dense(1, sigmoid) produces a probability between 0 and 1, enabling binary classification (toxic vs non-toxic).</a:t>
            </a:r>
          </a:p>
        </p:txBody>
      </p:sp>
    </p:spTree>
    <p:extLst>
      <p:ext uri="{BB962C8B-B14F-4D97-AF65-F5344CB8AC3E}">
        <p14:creationId xmlns:p14="http://schemas.microsoft.com/office/powerpoint/2010/main" val="1532786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545F6-4FE9-9DBD-94D8-DA4A3DFF81BF}"/>
              </a:ext>
            </a:extLst>
          </p:cNvPr>
          <p:cNvSpPr>
            <a:spLocks noGrp="1"/>
          </p:cNvSpPr>
          <p:nvPr>
            <p:ph type="title"/>
          </p:nvPr>
        </p:nvSpPr>
        <p:spPr>
          <a:xfrm>
            <a:off x="1097280" y="555654"/>
            <a:ext cx="10058400" cy="866503"/>
          </a:xfrm>
        </p:spPr>
        <p:txBody>
          <a:bodyPr/>
          <a:lstStyle/>
          <a:p>
            <a:pPr algn="ctr"/>
            <a:r>
              <a:rPr lang="en-US" b="1" spc="-10" dirty="0">
                <a:latin typeface="Times New Roman" panose="02020603050405020304" pitchFamily="18" charset="0"/>
                <a:cs typeface="Times New Roman" panose="02020603050405020304" pitchFamily="18" charset="0"/>
              </a:rPr>
              <a:t>METHODOLOGY</a:t>
            </a:r>
            <a:endParaRPr lang="en-IN" dirty="0"/>
          </a:p>
        </p:txBody>
      </p:sp>
      <p:pic>
        <p:nvPicPr>
          <p:cNvPr id="5" name="Picture 4">
            <a:extLst>
              <a:ext uri="{FF2B5EF4-FFF2-40B4-BE49-F238E27FC236}">
                <a16:creationId xmlns:a16="http://schemas.microsoft.com/office/drawing/2014/main" id="{F7760BC0-2C22-FBA2-AD79-DE3B4B5AD231}"/>
              </a:ext>
            </a:extLst>
          </p:cNvPr>
          <p:cNvPicPr>
            <a:picLocks noChangeAspect="1"/>
          </p:cNvPicPr>
          <p:nvPr/>
        </p:nvPicPr>
        <p:blipFill>
          <a:blip r:embed="rId2"/>
          <a:stretch>
            <a:fillRect/>
          </a:stretch>
        </p:blipFill>
        <p:spPr>
          <a:xfrm>
            <a:off x="957943" y="2167780"/>
            <a:ext cx="10439400" cy="2948506"/>
          </a:xfrm>
          <a:prstGeom prst="rect">
            <a:avLst/>
          </a:prstGeom>
        </p:spPr>
      </p:pic>
      <p:sp>
        <p:nvSpPr>
          <p:cNvPr id="6" name="TextBox 5">
            <a:extLst>
              <a:ext uri="{FF2B5EF4-FFF2-40B4-BE49-F238E27FC236}">
                <a16:creationId xmlns:a16="http://schemas.microsoft.com/office/drawing/2014/main" id="{AAB7698B-BAE4-692A-EF88-02A1CD365F77}"/>
              </a:ext>
            </a:extLst>
          </p:cNvPr>
          <p:cNvSpPr txBox="1"/>
          <p:nvPr/>
        </p:nvSpPr>
        <p:spPr>
          <a:xfrm>
            <a:off x="3374572" y="5166316"/>
            <a:ext cx="5906982" cy="353943"/>
          </a:xfrm>
          <a:prstGeom prst="rect">
            <a:avLst/>
          </a:prstGeom>
          <a:noFill/>
        </p:spPr>
        <p:txBody>
          <a:bodyPr wrap="square" rtlCol="0">
            <a:spAutoFit/>
          </a:bodyPr>
          <a:lstStyle/>
          <a:p>
            <a:r>
              <a:rPr lang="en-US" sz="1700" b="1" dirty="0">
                <a:latin typeface="Times New Roman" panose="02020603050405020304" pitchFamily="18" charset="0"/>
                <a:cs typeface="Times New Roman" panose="02020603050405020304" pitchFamily="18" charset="0"/>
              </a:rPr>
              <a:t>Figure 1. Data Flow Diagram for Cyber-bullying detection</a:t>
            </a:r>
            <a:endParaRPr lang="en-IN" sz="17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2001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2C26B-F314-358D-B57F-16FA51016643}"/>
              </a:ext>
            </a:extLst>
          </p:cNvPr>
          <p:cNvSpPr>
            <a:spLocks noGrp="1"/>
          </p:cNvSpPr>
          <p:nvPr>
            <p:ph type="title"/>
          </p:nvPr>
        </p:nvSpPr>
        <p:spPr>
          <a:xfrm>
            <a:off x="1097280" y="544769"/>
            <a:ext cx="10058400" cy="888274"/>
          </a:xfrm>
        </p:spPr>
        <p:txBody>
          <a:bodyPr/>
          <a:lstStyle/>
          <a:p>
            <a:pPr algn="ctr"/>
            <a:r>
              <a:rPr lang="en-US" b="1" spc="-10" dirty="0">
                <a:latin typeface="Times New Roman" panose="02020603050405020304" pitchFamily="18" charset="0"/>
                <a:cs typeface="Times New Roman" panose="02020603050405020304" pitchFamily="18" charset="0"/>
              </a:rPr>
              <a:t>METHODOLOGY</a:t>
            </a:r>
            <a:endParaRPr lang="en-IN" dirty="0"/>
          </a:p>
        </p:txBody>
      </p:sp>
      <p:sp>
        <p:nvSpPr>
          <p:cNvPr id="3" name="Content Placeholder 2">
            <a:extLst>
              <a:ext uri="{FF2B5EF4-FFF2-40B4-BE49-F238E27FC236}">
                <a16:creationId xmlns:a16="http://schemas.microsoft.com/office/drawing/2014/main" id="{841021BD-3B4A-DCE9-AD0D-598B14AD4E7B}"/>
              </a:ext>
            </a:extLst>
          </p:cNvPr>
          <p:cNvSpPr>
            <a:spLocks noGrp="1"/>
          </p:cNvSpPr>
          <p:nvPr>
            <p:ph idx="1"/>
          </p:nvPr>
        </p:nvSpPr>
        <p:spPr>
          <a:xfrm>
            <a:off x="1097280" y="2041677"/>
            <a:ext cx="10058400" cy="4023360"/>
          </a:xfrm>
        </p:spPr>
        <p:txBody>
          <a:bodyPr/>
          <a:lstStyle/>
          <a:p>
            <a:pPr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 Sources: </a:t>
            </a:r>
            <a:r>
              <a:rPr lang="en-US" sz="2400" dirty="0">
                <a:latin typeface="Times New Roman" panose="02020603050405020304" pitchFamily="18" charset="0"/>
                <a:cs typeface="Times New Roman" panose="02020603050405020304" pitchFamily="18" charset="0"/>
              </a:rPr>
              <a:t>Data from Kaggle(8datasets) </a:t>
            </a:r>
            <a:r>
              <a:rPr lang="en-IN" sz="2400" dirty="0">
                <a:latin typeface="Times New Roman" panose="02020603050405020304" pitchFamily="18" charset="0"/>
                <a:cs typeface="Times New Roman" panose="02020603050405020304" pitchFamily="18" charset="0"/>
              </a:rPr>
              <a:t>aggression_parsed.csv,  attack_parsed.csv, kaggle_parsed.csv , toxicity_parsed.csv, twitter_parsed.csv, twitter_racism_parsed.csv, twitter_sexism_parsed.csv, youtube_parsed.csv, genz_cyberbullying_parsed.csv.</a:t>
            </a:r>
          </a:p>
          <a:p>
            <a:pPr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Data Cleaning: </a:t>
            </a:r>
            <a:r>
              <a:rPr lang="en-IN" sz="2400" dirty="0">
                <a:latin typeface="Times New Roman" panose="02020603050405020304" pitchFamily="18" charset="0"/>
                <a:cs typeface="Times New Roman" panose="02020603050405020304" pitchFamily="18" charset="0"/>
              </a:rPr>
              <a:t>Removing the unwanted characters from like !, @, #, etc. , removing stopping word and stemming.</a:t>
            </a:r>
          </a:p>
          <a:p>
            <a:pPr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Feature Engineering and feature selection: </a:t>
            </a:r>
            <a:r>
              <a:rPr lang="en-US" sz="2400" dirty="0">
                <a:latin typeface="Times New Roman" panose="02020603050405020304" pitchFamily="18" charset="0"/>
                <a:cs typeface="Times New Roman" panose="02020603050405020304" pitchFamily="18" charset="0"/>
              </a:rPr>
              <a:t>Feature engineering includes Label encoding and feature selection includes features like Text and label(0 or 1).</a:t>
            </a:r>
          </a:p>
          <a:p>
            <a:pPr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Model training: </a:t>
            </a:r>
            <a:r>
              <a:rPr lang="en-IN" sz="2400" dirty="0">
                <a:latin typeface="Times New Roman" panose="02020603050405020304" pitchFamily="18" charset="0"/>
                <a:cs typeface="Times New Roman" panose="02020603050405020304" pitchFamily="18" charset="0"/>
              </a:rPr>
              <a:t>Training model on 8 dataset using Bi-directional LSTM(Long-Short Term Memory).</a:t>
            </a:r>
            <a:endParaRPr lang="en-IN" sz="24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4372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26BD2-6AE2-120B-C45A-E66B8C999F57}"/>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SOFTWARE</a:t>
            </a:r>
            <a:r>
              <a:rPr lang="en-US" b="1" spc="-75"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&amp;</a:t>
            </a:r>
            <a:r>
              <a:rPr lang="en-US" b="1" spc="-75"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HARDWARE</a:t>
            </a:r>
            <a:r>
              <a:rPr lang="en-US" b="1" spc="-75" dirty="0">
                <a:latin typeface="Times New Roman" panose="02020603050405020304" pitchFamily="18" charset="0"/>
                <a:cs typeface="Times New Roman" panose="02020603050405020304" pitchFamily="18" charset="0"/>
              </a:rPr>
              <a:t> </a:t>
            </a:r>
            <a:r>
              <a:rPr lang="en-US" b="1" spc="-10" dirty="0">
                <a:latin typeface="Times New Roman" panose="02020603050405020304" pitchFamily="18" charset="0"/>
                <a:cs typeface="Times New Roman" panose="02020603050405020304" pitchFamily="18" charset="0"/>
              </a:rPr>
              <a:t>REQUIREMENTS</a:t>
            </a:r>
            <a:endParaRPr lang="en-IN" dirty="0"/>
          </a:p>
        </p:txBody>
      </p:sp>
      <p:sp>
        <p:nvSpPr>
          <p:cNvPr id="4" name="Content Placeholder 2">
            <a:extLst>
              <a:ext uri="{FF2B5EF4-FFF2-40B4-BE49-F238E27FC236}">
                <a16:creationId xmlns:a16="http://schemas.microsoft.com/office/drawing/2014/main" id="{36321816-2E40-2900-8DCD-3FEE27EC6970}"/>
              </a:ext>
            </a:extLst>
          </p:cNvPr>
          <p:cNvSpPr>
            <a:spLocks noGrp="1"/>
          </p:cNvSpPr>
          <p:nvPr>
            <p:ph idx="1"/>
          </p:nvPr>
        </p:nvSpPr>
        <p:spPr>
          <a:xfrm>
            <a:off x="868680" y="1858283"/>
            <a:ext cx="10515600" cy="4351338"/>
          </a:xfrm>
        </p:spPr>
        <p:txBody>
          <a:bodyPr>
            <a:normAutofit fontScale="92500" lnSpcReduction="20000"/>
          </a:bodyPr>
          <a:lstStyle/>
          <a:p>
            <a:pPr marL="0" indent="0">
              <a:buNone/>
            </a:pPr>
            <a:r>
              <a:rPr lang="en-IN" sz="2500" b="1" dirty="0">
                <a:latin typeface="Times New Roman" panose="02020603050405020304" pitchFamily="18" charset="0"/>
                <a:cs typeface="Times New Roman" panose="02020603050405020304" pitchFamily="18" charset="0"/>
              </a:rPr>
              <a:t>Hardware requirements:</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Laptop with Operating System: Windows 11, macOS, or Linux</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Processor: Intel Core i5/i7 (or AMD equivalent) or higher. </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RAM: Minimum 8GB. </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Storage: SSD with at least 256GB.</a:t>
            </a:r>
          </a:p>
          <a:p>
            <a:pPr marL="0" indent="0" algn="just">
              <a:buNone/>
            </a:pPr>
            <a:r>
              <a:rPr lang="en-IN" sz="2500" b="1" dirty="0">
                <a:latin typeface="Times New Roman" panose="02020603050405020304" pitchFamily="18" charset="0"/>
                <a:cs typeface="Times New Roman" panose="02020603050405020304" pitchFamily="18" charset="0"/>
              </a:rPr>
              <a:t>Software requirements:</a:t>
            </a:r>
          </a:p>
          <a:p>
            <a:pPr algn="just">
              <a:buFont typeface="Arial" panose="020B0604020202020204" pitchFamily="34" charset="0"/>
              <a:buChar char="•"/>
            </a:pPr>
            <a:r>
              <a:rPr lang="en-IN" sz="2500" b="1" dirty="0">
                <a:latin typeface="Times New Roman" panose="02020603050405020304" pitchFamily="18" charset="0"/>
                <a:cs typeface="Times New Roman" panose="02020603050405020304" pitchFamily="18" charset="0"/>
              </a:rPr>
              <a:t>Coding Language :</a:t>
            </a:r>
            <a:r>
              <a:rPr lang="en-IN" sz="2500" dirty="0">
                <a:latin typeface="Times New Roman" panose="02020603050405020304" pitchFamily="18" charset="0"/>
                <a:cs typeface="Times New Roman" panose="02020603050405020304" pitchFamily="18" charset="0"/>
              </a:rPr>
              <a:t> Python </a:t>
            </a:r>
          </a:p>
          <a:p>
            <a:pPr algn="just">
              <a:buFont typeface="Arial" panose="020B0604020202020204" pitchFamily="34" charset="0"/>
              <a:buChar char="•"/>
            </a:pPr>
            <a:r>
              <a:rPr lang="en-IN" sz="2500" b="1" dirty="0">
                <a:latin typeface="Times New Roman" panose="02020603050405020304" pitchFamily="18" charset="0"/>
                <a:cs typeface="Times New Roman" panose="02020603050405020304" pitchFamily="18" charset="0"/>
              </a:rPr>
              <a:t>Development tools &amp; libraries: </a:t>
            </a:r>
          </a:p>
          <a:p>
            <a:pPr lvl="1" algn="just">
              <a:buFont typeface="Courier New" panose="02070309020205020404" pitchFamily="49" charset="0"/>
              <a:buChar char="o"/>
            </a:pPr>
            <a:r>
              <a:rPr lang="en-IN" sz="2500" b="1" dirty="0">
                <a:latin typeface="Times New Roman" panose="02020603050405020304" pitchFamily="18" charset="0"/>
                <a:cs typeface="Times New Roman" panose="02020603050405020304" pitchFamily="18" charset="0"/>
              </a:rPr>
              <a:t>Deep Learning Frameworks: </a:t>
            </a:r>
            <a:r>
              <a:rPr lang="en-IN" sz="2500" dirty="0">
                <a:latin typeface="Times New Roman" panose="02020603050405020304" pitchFamily="18" charset="0"/>
                <a:cs typeface="Times New Roman" panose="02020603050405020304" pitchFamily="18" charset="0"/>
              </a:rPr>
              <a:t>TensorFlow 2.x, </a:t>
            </a:r>
            <a:r>
              <a:rPr lang="en-IN" sz="2500" dirty="0" err="1">
                <a:latin typeface="Times New Roman" panose="02020603050405020304" pitchFamily="18" charset="0"/>
                <a:cs typeface="Times New Roman" panose="02020603050405020304" pitchFamily="18" charset="0"/>
              </a:rPr>
              <a:t>Keras</a:t>
            </a:r>
            <a:r>
              <a:rPr lang="en-IN" sz="2500" dirty="0">
                <a:latin typeface="Times New Roman" panose="02020603050405020304" pitchFamily="18" charset="0"/>
                <a:cs typeface="Times New Roman" panose="02020603050405020304" pitchFamily="18" charset="0"/>
              </a:rPr>
              <a:t>, Bidirectional LSTM </a:t>
            </a:r>
          </a:p>
          <a:p>
            <a:pPr lvl="1" algn="just">
              <a:buFont typeface="Courier New" panose="02070309020205020404" pitchFamily="49" charset="0"/>
              <a:buChar char="o"/>
            </a:pPr>
            <a:r>
              <a:rPr lang="en-IN" sz="2500" b="1" dirty="0">
                <a:latin typeface="Times New Roman" panose="02020603050405020304" pitchFamily="18" charset="0"/>
                <a:cs typeface="Times New Roman" panose="02020603050405020304" pitchFamily="18" charset="0"/>
              </a:rPr>
              <a:t>Machine Learning Libraries: </a:t>
            </a:r>
            <a:r>
              <a:rPr lang="en-IN" sz="2500" dirty="0">
                <a:latin typeface="Times New Roman" panose="02020603050405020304" pitchFamily="18" charset="0"/>
                <a:cs typeface="Times New Roman" panose="02020603050405020304" pitchFamily="18" charset="0"/>
              </a:rPr>
              <a:t>Scikit-learn </a:t>
            </a:r>
          </a:p>
          <a:p>
            <a:pPr lvl="1" algn="just">
              <a:buFont typeface="Courier New" panose="02070309020205020404" pitchFamily="49" charset="0"/>
              <a:buChar char="o"/>
            </a:pPr>
            <a:r>
              <a:rPr lang="en-IN" sz="2500" b="1" dirty="0">
                <a:latin typeface="Times New Roman" panose="02020603050405020304" pitchFamily="18" charset="0"/>
                <a:cs typeface="Times New Roman" panose="02020603050405020304" pitchFamily="18" charset="0"/>
              </a:rPr>
              <a:t>Data Processing &amp; Visualization: </a:t>
            </a:r>
            <a:r>
              <a:rPr lang="en-IN" sz="2500" dirty="0">
                <a:latin typeface="Times New Roman" panose="02020603050405020304" pitchFamily="18" charset="0"/>
                <a:cs typeface="Times New Roman" panose="02020603050405020304" pitchFamily="18" charset="0"/>
              </a:rPr>
              <a:t>Pandas, NumPy, Matplotlib, Seaborn</a:t>
            </a:r>
          </a:p>
        </p:txBody>
      </p:sp>
    </p:spTree>
    <p:extLst>
      <p:ext uri="{BB962C8B-B14F-4D97-AF65-F5344CB8AC3E}">
        <p14:creationId xmlns:p14="http://schemas.microsoft.com/office/powerpoint/2010/main" val="3342693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F855A-A928-3D4E-FDE1-471F16ADD148}"/>
              </a:ext>
            </a:extLst>
          </p:cNvPr>
          <p:cNvSpPr>
            <a:spLocks noGrp="1"/>
          </p:cNvSpPr>
          <p:nvPr>
            <p:ph type="title"/>
          </p:nvPr>
        </p:nvSpPr>
        <p:spPr>
          <a:xfrm>
            <a:off x="1097280" y="446314"/>
            <a:ext cx="10058400" cy="931817"/>
          </a:xfrm>
        </p:spPr>
        <p:txBody>
          <a:bodyPr/>
          <a:lstStyle/>
          <a:p>
            <a:pPr algn="ctr"/>
            <a:r>
              <a:rPr lang="en-US" b="1" dirty="0">
                <a:latin typeface="Times New Roman" panose="02020603050405020304" pitchFamily="18" charset="0"/>
                <a:cs typeface="Times New Roman" panose="02020603050405020304" pitchFamily="18" charset="0"/>
              </a:rPr>
              <a:t>RESULT AND DISCUSSION</a:t>
            </a:r>
            <a:endParaRPr lang="en-IN" dirty="0"/>
          </a:p>
        </p:txBody>
      </p:sp>
      <p:pic>
        <p:nvPicPr>
          <p:cNvPr id="4" name="Content Placeholder 10">
            <a:extLst>
              <a:ext uri="{FF2B5EF4-FFF2-40B4-BE49-F238E27FC236}">
                <a16:creationId xmlns:a16="http://schemas.microsoft.com/office/drawing/2014/main" id="{9AE6B56F-6606-3915-B42D-29EF0FA546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02602" y="1844493"/>
            <a:ext cx="6847756" cy="4153536"/>
          </a:xfrm>
        </p:spPr>
      </p:pic>
      <p:sp>
        <p:nvSpPr>
          <p:cNvPr id="5" name="TextBox 4">
            <a:extLst>
              <a:ext uri="{FF2B5EF4-FFF2-40B4-BE49-F238E27FC236}">
                <a16:creationId xmlns:a16="http://schemas.microsoft.com/office/drawing/2014/main" id="{3DEF9187-F36D-D651-7442-9AD60789C806}"/>
              </a:ext>
            </a:extLst>
          </p:cNvPr>
          <p:cNvSpPr txBox="1"/>
          <p:nvPr/>
        </p:nvSpPr>
        <p:spPr>
          <a:xfrm>
            <a:off x="4419600" y="5998029"/>
            <a:ext cx="33528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Figure2. Comment Section</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1836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C1DA31-1367-22C7-8551-25D8BA4CFB07}"/>
              </a:ext>
            </a:extLst>
          </p:cNvPr>
          <p:cNvSpPr txBox="1">
            <a:spLocks/>
          </p:cNvSpPr>
          <p:nvPr/>
        </p:nvSpPr>
        <p:spPr>
          <a:xfrm>
            <a:off x="1097280" y="446314"/>
            <a:ext cx="10058400" cy="93181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RESULT AND DISCUSSION</a:t>
            </a:r>
            <a:endParaRPr lang="en-IN" dirty="0"/>
          </a:p>
        </p:txBody>
      </p:sp>
      <p:pic>
        <p:nvPicPr>
          <p:cNvPr id="5" name="Picture 4">
            <a:extLst>
              <a:ext uri="{FF2B5EF4-FFF2-40B4-BE49-F238E27FC236}">
                <a16:creationId xmlns:a16="http://schemas.microsoft.com/office/drawing/2014/main" id="{B8983B1F-0CF7-739E-5C25-A9E71161C5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954" y="1942597"/>
            <a:ext cx="9144091" cy="3841344"/>
          </a:xfrm>
          <a:prstGeom prst="rect">
            <a:avLst/>
          </a:prstGeom>
        </p:spPr>
      </p:pic>
      <p:sp>
        <p:nvSpPr>
          <p:cNvPr id="7" name="TextBox 6">
            <a:extLst>
              <a:ext uri="{FF2B5EF4-FFF2-40B4-BE49-F238E27FC236}">
                <a16:creationId xmlns:a16="http://schemas.microsoft.com/office/drawing/2014/main" id="{147968A2-9B2B-D7F6-1F61-ECC31D7F8C50}"/>
              </a:ext>
            </a:extLst>
          </p:cNvPr>
          <p:cNvSpPr txBox="1"/>
          <p:nvPr/>
        </p:nvSpPr>
        <p:spPr>
          <a:xfrm>
            <a:off x="3714205" y="5798453"/>
            <a:ext cx="4824549"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Figure3. Recent Comment with Toxicity Score</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1244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6179FA-71FB-8013-6F61-C1466B6A1D8E}"/>
              </a:ext>
            </a:extLst>
          </p:cNvPr>
          <p:cNvSpPr txBox="1">
            <a:spLocks noGrp="1"/>
          </p:cNvSpPr>
          <p:nvPr>
            <p:ph type="title"/>
          </p:nvPr>
        </p:nvSpPr>
        <p:spPr>
          <a:xfrm>
            <a:off x="1066800" y="539643"/>
            <a:ext cx="10058400" cy="89852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RESULT AND DISCUSSION</a:t>
            </a:r>
            <a:endParaRPr lang="en-IN" dirty="0"/>
          </a:p>
        </p:txBody>
      </p:sp>
      <p:pic>
        <p:nvPicPr>
          <p:cNvPr id="5" name="Content Placeholder 4">
            <a:extLst>
              <a:ext uri="{FF2B5EF4-FFF2-40B4-BE49-F238E27FC236}">
                <a16:creationId xmlns:a16="http://schemas.microsoft.com/office/drawing/2014/main" id="{52F14A7A-12B6-2957-B175-66737FE290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7101" y="1824492"/>
            <a:ext cx="7997797" cy="4124533"/>
          </a:xfrm>
          <a:prstGeom prst="rect">
            <a:avLst/>
          </a:prstGeom>
        </p:spPr>
      </p:pic>
      <p:sp>
        <p:nvSpPr>
          <p:cNvPr id="7" name="TextBox 6">
            <a:extLst>
              <a:ext uri="{FF2B5EF4-FFF2-40B4-BE49-F238E27FC236}">
                <a16:creationId xmlns:a16="http://schemas.microsoft.com/office/drawing/2014/main" id="{F8C9C5DB-90E6-0775-645F-5C53B25D937F}"/>
              </a:ext>
            </a:extLst>
          </p:cNvPr>
          <p:cNvSpPr txBox="1"/>
          <p:nvPr/>
        </p:nvSpPr>
        <p:spPr>
          <a:xfrm>
            <a:off x="4844142" y="5993213"/>
            <a:ext cx="2503714"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Figure4. Leaderboard</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5530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308554A-B94A-FFA3-FFA4-522E467E846F}"/>
              </a:ext>
            </a:extLst>
          </p:cNvPr>
          <p:cNvSpPr txBox="1">
            <a:spLocks noGrp="1"/>
          </p:cNvSpPr>
          <p:nvPr>
            <p:ph type="title"/>
          </p:nvPr>
        </p:nvSpPr>
        <p:spPr>
          <a:xfrm>
            <a:off x="1066800" y="555972"/>
            <a:ext cx="10058400" cy="865868"/>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RESULT AND DISCUSSION</a:t>
            </a:r>
            <a:endParaRPr lang="en-IN" dirty="0"/>
          </a:p>
        </p:txBody>
      </p:sp>
      <p:pic>
        <p:nvPicPr>
          <p:cNvPr id="5" name="Content Placeholder 4">
            <a:extLst>
              <a:ext uri="{FF2B5EF4-FFF2-40B4-BE49-F238E27FC236}">
                <a16:creationId xmlns:a16="http://schemas.microsoft.com/office/drawing/2014/main" id="{530633FF-33FA-8EA5-CDB1-934EBF70A6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2227" y="1846263"/>
            <a:ext cx="7447871" cy="4022725"/>
          </a:xfrm>
          <a:prstGeom prst="rect">
            <a:avLst/>
          </a:prstGeom>
        </p:spPr>
      </p:pic>
      <p:sp>
        <p:nvSpPr>
          <p:cNvPr id="7" name="TextBox 6">
            <a:extLst>
              <a:ext uri="{FF2B5EF4-FFF2-40B4-BE49-F238E27FC236}">
                <a16:creationId xmlns:a16="http://schemas.microsoft.com/office/drawing/2014/main" id="{74BA0D7B-5072-62C5-A962-2DBF57B1D7EA}"/>
              </a:ext>
            </a:extLst>
          </p:cNvPr>
          <p:cNvSpPr txBox="1"/>
          <p:nvPr/>
        </p:nvSpPr>
        <p:spPr>
          <a:xfrm>
            <a:off x="4602162" y="5868988"/>
            <a:ext cx="3048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Figure5.Blocking Comment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0964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7C426-6B91-28A6-A48D-BA9390B461DA}"/>
              </a:ext>
            </a:extLst>
          </p:cNvPr>
          <p:cNvSpPr>
            <a:spLocks noGrp="1"/>
          </p:cNvSpPr>
          <p:nvPr>
            <p:ph type="title"/>
          </p:nvPr>
        </p:nvSpPr>
        <p:spPr>
          <a:xfrm>
            <a:off x="1097280" y="522997"/>
            <a:ext cx="10058400" cy="931817"/>
          </a:xfrm>
        </p:spPr>
        <p:txBody>
          <a:bodyPr/>
          <a:lstStyle/>
          <a:p>
            <a:pPr algn="ctr"/>
            <a:r>
              <a:rPr lang="en-US" b="1" dirty="0">
                <a:latin typeface="Times New Roman" panose="02020603050405020304" pitchFamily="18" charset="0"/>
                <a:cs typeface="Times New Roman" panose="02020603050405020304" pitchFamily="18" charset="0"/>
              </a:rPr>
              <a:t>CONCLUSION</a:t>
            </a:r>
            <a:endParaRPr lang="en-IN" dirty="0"/>
          </a:p>
        </p:txBody>
      </p:sp>
      <p:sp>
        <p:nvSpPr>
          <p:cNvPr id="3" name="Content Placeholder 2">
            <a:extLst>
              <a:ext uri="{FF2B5EF4-FFF2-40B4-BE49-F238E27FC236}">
                <a16:creationId xmlns:a16="http://schemas.microsoft.com/office/drawing/2014/main" id="{F5E546EB-306D-2E32-D8B4-E60C1E607C28}"/>
              </a:ext>
            </a:extLst>
          </p:cNvPr>
          <p:cNvSpPr>
            <a:spLocks noGrp="1"/>
          </p:cNvSpPr>
          <p:nvPr>
            <p:ph idx="1"/>
          </p:nvPr>
        </p:nvSpPr>
        <p:spPr/>
        <p:txBody>
          <a:bodyPr/>
          <a:lstStyle/>
          <a:p>
            <a:pPr algn="just" eaLnBrk="0" fontAlgn="base" hangingPunct="0">
              <a:lnSpc>
                <a:spcPct val="100000"/>
              </a:lnSpc>
              <a:spcBef>
                <a:spcPct val="0"/>
              </a:spcBef>
              <a:spcAft>
                <a:spcPct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The accuracy of model is 96.3%</a:t>
            </a:r>
          </a:p>
          <a:p>
            <a:pPr algn="just" eaLnBrk="0" fontAlgn="base" hangingPunct="0">
              <a:lnSpc>
                <a:spcPct val="100000"/>
              </a:lnSpc>
              <a:spcBef>
                <a:spcPct val="0"/>
              </a:spcBef>
              <a:spcAft>
                <a:spcPct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The system successfully enhances cyberbullying detection by introducing multi-level toxicity classification, enabling clearer differentiation between low, medium, and highly aggressive abusive content.</a:t>
            </a:r>
          </a:p>
          <a:p>
            <a:pPr algn="just" eaLnBrk="0" fontAlgn="base" hangingPunct="0">
              <a:lnSpc>
                <a:spcPct val="100000"/>
              </a:lnSpc>
              <a:spcBef>
                <a:spcPct val="0"/>
              </a:spcBef>
              <a:spcAft>
                <a:spcPct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A dynamic user reputation scoring mechanism ensures continuous monitoring of user behavior, promoting accountability while adapting scores based on the severity of detected toxicity.</a:t>
            </a:r>
          </a:p>
          <a:p>
            <a:pPr algn="just" eaLnBrk="0" fontAlgn="base" hangingPunct="0">
              <a:lnSpc>
                <a:spcPct val="100000"/>
              </a:lnSpc>
              <a:spcBef>
                <a:spcPct val="0"/>
              </a:spcBef>
              <a:spcAft>
                <a:spcPct val="0"/>
              </a:spcAft>
              <a:buFont typeface="Arial" panose="020B0604020202020204" pitchFamily="34" charset="0"/>
              <a:buChar char="•"/>
            </a:pPr>
            <a:r>
              <a:rPr lang="en-US" altLang="en-US" sz="2400" dirty="0">
                <a:solidFill>
                  <a:schemeClr val="tx1"/>
                </a:solidFill>
                <a:latin typeface="Times New Roman" panose="02020603050405020304" pitchFamily="18" charset="0"/>
                <a:cs typeface="Times New Roman" panose="02020603050405020304" pitchFamily="18" charset="0"/>
              </a:rPr>
              <a:t>The system’s automated preventive mechanism proactively restricts or blocks users whose reputation score drops below a defined threshold, reducing repeated harmful actions.</a:t>
            </a:r>
          </a:p>
          <a:p>
            <a:endParaRPr lang="en-IN" dirty="0"/>
          </a:p>
        </p:txBody>
      </p:sp>
    </p:spTree>
    <p:extLst>
      <p:ext uri="{BB962C8B-B14F-4D97-AF65-F5344CB8AC3E}">
        <p14:creationId xmlns:p14="http://schemas.microsoft.com/office/powerpoint/2010/main" val="4045833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317A5-6F6D-1D1B-5883-E74B5DCD3CA9}"/>
              </a:ext>
            </a:extLst>
          </p:cNvPr>
          <p:cNvSpPr>
            <a:spLocks noGrp="1"/>
          </p:cNvSpPr>
          <p:nvPr>
            <p:ph type="title"/>
          </p:nvPr>
        </p:nvSpPr>
        <p:spPr>
          <a:xfrm>
            <a:off x="1066800" y="446314"/>
            <a:ext cx="10058400" cy="910046"/>
          </a:xfrm>
        </p:spPr>
        <p:txBody>
          <a:bodyPr/>
          <a:lstStyle/>
          <a:p>
            <a:pPr algn="ctr"/>
            <a:r>
              <a:rPr lang="en-US" b="1" spc="-3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FUTURE</a:t>
            </a:r>
            <a:r>
              <a:rPr lang="en-US" b="1" spc="-30" dirty="0">
                <a:latin typeface="Times New Roman" panose="02020603050405020304" pitchFamily="18" charset="0"/>
                <a:cs typeface="Times New Roman" panose="02020603050405020304" pitchFamily="18" charset="0"/>
              </a:rPr>
              <a:t> </a:t>
            </a:r>
            <a:r>
              <a:rPr lang="en-US" b="1" spc="-10" dirty="0">
                <a:latin typeface="Times New Roman" panose="02020603050405020304" pitchFamily="18" charset="0"/>
                <a:cs typeface="Times New Roman" panose="02020603050405020304" pitchFamily="18" charset="0"/>
              </a:rPr>
              <a:t>SCOPE</a:t>
            </a:r>
            <a:endParaRPr lang="en-IN" dirty="0"/>
          </a:p>
        </p:txBody>
      </p:sp>
      <p:sp>
        <p:nvSpPr>
          <p:cNvPr id="3" name="Content Placeholder 2">
            <a:extLst>
              <a:ext uri="{FF2B5EF4-FFF2-40B4-BE49-F238E27FC236}">
                <a16:creationId xmlns:a16="http://schemas.microsoft.com/office/drawing/2014/main" id="{F3404110-CE61-7B9B-A28F-8430DED28AA7}"/>
              </a:ext>
            </a:extLst>
          </p:cNvPr>
          <p:cNvSpPr>
            <a:spLocks noGrp="1"/>
          </p:cNvSpPr>
          <p:nvPr>
            <p:ph idx="1"/>
          </p:nvPr>
        </p:nvSpPr>
        <p:spPr>
          <a:xfrm>
            <a:off x="1446711" y="2554635"/>
            <a:ext cx="9298577" cy="2519437"/>
          </a:xfrm>
        </p:spPr>
        <p:txBody>
          <a:bodyPr/>
          <a:lstStyle/>
          <a:p>
            <a:pPr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Future research can focus on developing a multi-modal system by integrating text, image, and audio analysis for broader cyberbullying detection. </a:t>
            </a:r>
          </a:p>
          <a:p>
            <a:pPr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Additionally, incorporating user relationship data and multi-lingual or sarcasm-specific datasets can enhance contextual understanding and global applicability.</a:t>
            </a:r>
          </a:p>
          <a:p>
            <a:pPr marL="0" indent="0">
              <a:buNone/>
            </a:pPr>
            <a:endParaRPr lang="en-IN" dirty="0"/>
          </a:p>
          <a:p>
            <a:endParaRPr lang="en-IN" dirty="0"/>
          </a:p>
        </p:txBody>
      </p:sp>
    </p:spTree>
    <p:extLst>
      <p:ext uri="{BB962C8B-B14F-4D97-AF65-F5344CB8AC3E}">
        <p14:creationId xmlns:p14="http://schemas.microsoft.com/office/powerpoint/2010/main" val="3490990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3116-14AC-F3BC-3371-1940AFD36410}"/>
              </a:ext>
            </a:extLst>
          </p:cNvPr>
          <p:cNvSpPr>
            <a:spLocks noGrp="1"/>
          </p:cNvSpPr>
          <p:nvPr>
            <p:ph type="title"/>
          </p:nvPr>
        </p:nvSpPr>
        <p:spPr>
          <a:xfrm>
            <a:off x="1097280" y="539326"/>
            <a:ext cx="10058400" cy="899160"/>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IN" dirty="0"/>
          </a:p>
        </p:txBody>
      </p:sp>
      <p:sp>
        <p:nvSpPr>
          <p:cNvPr id="3" name="Content Placeholder 2">
            <a:extLst>
              <a:ext uri="{FF2B5EF4-FFF2-40B4-BE49-F238E27FC236}">
                <a16:creationId xmlns:a16="http://schemas.microsoft.com/office/drawing/2014/main" id="{725F703B-8DE5-2E8F-4892-EB1749B75D50}"/>
              </a:ext>
            </a:extLst>
          </p:cNvPr>
          <p:cNvSpPr>
            <a:spLocks noGrp="1"/>
          </p:cNvSpPr>
          <p:nvPr>
            <p:ph idx="1"/>
          </p:nvPr>
        </p:nvSpPr>
        <p:spPr>
          <a:xfrm>
            <a:off x="283029" y="1905000"/>
            <a:ext cx="11636827" cy="4735286"/>
          </a:xfrm>
        </p:spPr>
        <p:txBody>
          <a:bodyPr>
            <a:noAutofit/>
          </a:bodyPr>
          <a:lstStyle/>
          <a:p>
            <a:pPr marL="0" indent="0" algn="just">
              <a:lnSpc>
                <a:spcPct val="170000"/>
              </a:lnSpc>
              <a:buNone/>
            </a:pPr>
            <a:r>
              <a:rPr lang="en-IN" sz="1400" dirty="0">
                <a:latin typeface="Times New Roman" panose="02020603050405020304" pitchFamily="18" charset="0"/>
                <a:cs typeface="Times New Roman" panose="02020603050405020304" pitchFamily="18" charset="0"/>
              </a:rPr>
              <a:t>[1].  J. Sathya and F. M. H. Fernandez, "Effective Automatic Cyberbullying Detection Using a Hybrid Approach SVM And NLP," in 2024 International Conference on Advances in Data Engineering and Intelligent Computing Systems (ADICS), 2024. </a:t>
            </a:r>
          </a:p>
          <a:p>
            <a:pPr marL="0" indent="0" algn="just">
              <a:lnSpc>
                <a:spcPct val="170000"/>
              </a:lnSpc>
              <a:buNone/>
            </a:pPr>
            <a:r>
              <a:rPr lang="en-IN" sz="1400" dirty="0">
                <a:latin typeface="Times New Roman" panose="02020603050405020304" pitchFamily="18" charset="0"/>
                <a:cs typeface="Times New Roman" panose="02020603050405020304" pitchFamily="18" charset="0"/>
              </a:rPr>
              <a:t>[2].  M. Priyadharshini, B. Nithya, </a:t>
            </a:r>
            <a:r>
              <a:rPr lang="en-IN" sz="1400" dirty="0" err="1">
                <a:latin typeface="Times New Roman" panose="02020603050405020304" pitchFamily="18" charset="0"/>
                <a:cs typeface="Times New Roman" panose="02020603050405020304" pitchFamily="18" charset="0"/>
              </a:rPr>
              <a:t>Hemagowri</a:t>
            </a:r>
            <a:r>
              <a:rPr lang="en-IN" sz="1400" dirty="0">
                <a:latin typeface="Times New Roman" panose="02020603050405020304" pitchFamily="18" charset="0"/>
                <a:cs typeface="Times New Roman" panose="02020603050405020304" pitchFamily="18" charset="0"/>
              </a:rPr>
              <a:t> J, Srinidhi K, A. F. Banu, and V. Murugesh,  "Advanced Cyberbullying Detection: A Hybrid Model Integrated with Naïve Bayes," in 2024  Third International Conference on Electrical, Electronics, Information and Communication Technologies (ICEEICT), 2024 .</a:t>
            </a:r>
          </a:p>
          <a:p>
            <a:pPr marL="0" indent="0" algn="just">
              <a:lnSpc>
                <a:spcPct val="170000"/>
              </a:lnSpc>
              <a:buNone/>
            </a:pPr>
            <a:r>
              <a:rPr lang="en-IN" sz="1400" dirty="0">
                <a:latin typeface="Times New Roman" panose="02020603050405020304" pitchFamily="18" charset="0"/>
                <a:cs typeface="Times New Roman" panose="02020603050405020304" pitchFamily="18" charset="0"/>
              </a:rPr>
              <a:t>[3]. V. B. Pal and P. S. D., "Integrating Link Prediction and Comment Analysis for Enhanced  Cyberbullying Detection in Online Social Interactions," in 2024 IEEE International Conference  on Electronics, Computing and Communication Technologies (CONECCT), 2024.</a:t>
            </a:r>
          </a:p>
          <a:p>
            <a:pPr marL="0" indent="0" algn="just">
              <a:lnSpc>
                <a:spcPct val="170000"/>
              </a:lnSpc>
              <a:buNone/>
            </a:pPr>
            <a:r>
              <a:rPr lang="en-IN" sz="1400" dirty="0">
                <a:latin typeface="Times New Roman" panose="02020603050405020304" pitchFamily="18" charset="0"/>
                <a:cs typeface="Times New Roman" panose="02020603050405020304" pitchFamily="18" charset="0"/>
              </a:rPr>
              <a:t>[4] L. F. </a:t>
            </a:r>
            <a:r>
              <a:rPr lang="en-IN" sz="1400" dirty="0" err="1">
                <a:latin typeface="Times New Roman" panose="02020603050405020304" pitchFamily="18" charset="0"/>
                <a:cs typeface="Times New Roman" panose="02020603050405020304" pitchFamily="18" charset="0"/>
              </a:rPr>
              <a:t>Benassou</a:t>
            </a:r>
            <a:r>
              <a:rPr lang="en-IN" sz="1400" dirty="0">
                <a:latin typeface="Times New Roman" panose="02020603050405020304" pitchFamily="18" charset="0"/>
                <a:cs typeface="Times New Roman" panose="02020603050405020304" pitchFamily="18" charset="0"/>
              </a:rPr>
              <a:t>, S. </a:t>
            </a:r>
            <a:r>
              <a:rPr lang="en-IN" sz="1400" dirty="0" err="1">
                <a:latin typeface="Times New Roman" panose="02020603050405020304" pitchFamily="18" charset="0"/>
                <a:cs typeface="Times New Roman" panose="02020603050405020304" pitchFamily="18" charset="0"/>
              </a:rPr>
              <a:t>Bendaouia</a:t>
            </a:r>
            <a:r>
              <a:rPr lang="en-IN" sz="1400" dirty="0">
                <a:latin typeface="Times New Roman" panose="02020603050405020304" pitchFamily="18" charset="0"/>
                <a:cs typeface="Times New Roman" panose="02020603050405020304" pitchFamily="18" charset="0"/>
              </a:rPr>
              <a:t>, O. Salem, and A. </a:t>
            </a:r>
            <a:r>
              <a:rPr lang="en-IN" sz="1400" dirty="0" err="1">
                <a:latin typeface="Times New Roman" panose="02020603050405020304" pitchFamily="18" charset="0"/>
                <a:cs typeface="Times New Roman" panose="02020603050405020304" pitchFamily="18" charset="0"/>
              </a:rPr>
              <a:t>Mehaoua</a:t>
            </a:r>
            <a:r>
              <a:rPr lang="en-IN" sz="1400" dirty="0">
                <a:latin typeface="Times New Roman" panose="02020603050405020304" pitchFamily="18" charset="0"/>
                <a:cs typeface="Times New Roman" panose="02020603050405020304" pitchFamily="18" charset="0"/>
              </a:rPr>
              <a:t>, "Detection of Cyberbullying in  Online Comments Latest Advances and Challenges," in 2023 IEEE International Conference  on E-health Networking, Application &amp; Services (</a:t>
            </a:r>
            <a:r>
              <a:rPr lang="en-IN" sz="1400" dirty="0" err="1">
                <a:latin typeface="Times New Roman" panose="02020603050405020304" pitchFamily="18" charset="0"/>
                <a:cs typeface="Times New Roman" panose="02020603050405020304" pitchFamily="18" charset="0"/>
              </a:rPr>
              <a:t>Healthcom</a:t>
            </a:r>
            <a:r>
              <a:rPr lang="en-IN" sz="1400" dirty="0">
                <a:latin typeface="Times New Roman" panose="02020603050405020304" pitchFamily="18" charset="0"/>
                <a:cs typeface="Times New Roman" panose="02020603050405020304" pitchFamily="18" charset="0"/>
              </a:rPr>
              <a:t>), 2023.</a:t>
            </a:r>
          </a:p>
          <a:p>
            <a:pPr marL="0" indent="0" algn="just">
              <a:lnSpc>
                <a:spcPct val="170000"/>
              </a:lnSpc>
              <a:buNone/>
            </a:pPr>
            <a:r>
              <a:rPr lang="en-IN" sz="1400" dirty="0">
                <a:latin typeface="Times New Roman" panose="02020603050405020304" pitchFamily="18" charset="0"/>
                <a:cs typeface="Times New Roman" panose="02020603050405020304" pitchFamily="18" charset="0"/>
              </a:rPr>
              <a:t>[5]. S. A. Mathur, B. </a:t>
            </a:r>
            <a:r>
              <a:rPr lang="en-IN" sz="1400" dirty="0" err="1">
                <a:latin typeface="Times New Roman" panose="02020603050405020304" pitchFamily="18" charset="0"/>
                <a:cs typeface="Times New Roman" panose="02020603050405020304" pitchFamily="18" charset="0"/>
              </a:rPr>
              <a:t>Dharmasivam</a:t>
            </a:r>
            <a:r>
              <a:rPr lang="en-IN" sz="1400" dirty="0">
                <a:latin typeface="Times New Roman" panose="02020603050405020304" pitchFamily="18" charset="0"/>
                <a:cs typeface="Times New Roman" panose="02020603050405020304" pitchFamily="18" charset="0"/>
              </a:rPr>
              <a:t>, S. </a:t>
            </a:r>
            <a:r>
              <a:rPr lang="en-IN" sz="1400" dirty="0" err="1">
                <a:latin typeface="Times New Roman" panose="02020603050405020304" pitchFamily="18" charset="0"/>
                <a:cs typeface="Times New Roman" panose="02020603050405020304" pitchFamily="18" charset="0"/>
              </a:rPr>
              <a:t>Isarka</a:t>
            </a:r>
            <a:r>
              <a:rPr lang="en-IN" sz="1400" dirty="0">
                <a:latin typeface="Times New Roman" panose="02020603050405020304" pitchFamily="18" charset="0"/>
                <a:cs typeface="Times New Roman" panose="02020603050405020304" pitchFamily="18" charset="0"/>
              </a:rPr>
              <a:t>, and J. C. D., "Analysis of Tweets for  Cyberbullying Detection," in 2023 Third International Conference on Secure Cyber Computing  and Communication (ICSCCC), 2023.</a:t>
            </a:r>
          </a:p>
          <a:p>
            <a:pPr marL="0" indent="0">
              <a:buNone/>
            </a:pPr>
            <a:endParaRPr lang="en-IN" sz="1400" dirty="0"/>
          </a:p>
        </p:txBody>
      </p:sp>
    </p:spTree>
    <p:extLst>
      <p:ext uri="{BB962C8B-B14F-4D97-AF65-F5344CB8AC3E}">
        <p14:creationId xmlns:p14="http://schemas.microsoft.com/office/powerpoint/2010/main" val="1445164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128365-1AF3-6853-CE5F-9C79A3D0AA22}"/>
              </a:ext>
            </a:extLst>
          </p:cNvPr>
          <p:cNvSpPr txBox="1"/>
          <p:nvPr/>
        </p:nvSpPr>
        <p:spPr>
          <a:xfrm>
            <a:off x="2383971" y="2421032"/>
            <a:ext cx="7424058" cy="2015936"/>
          </a:xfrm>
          <a:prstGeom prst="rect">
            <a:avLst/>
          </a:prstGeom>
          <a:noFill/>
        </p:spPr>
        <p:txBody>
          <a:bodyPr wrap="square" rtlCol="0">
            <a:spAutoFit/>
          </a:bodyPr>
          <a:lstStyle/>
          <a:p>
            <a:r>
              <a:rPr lang="en-US" sz="12500" i="1" dirty="0">
                <a:latin typeface="Times New Roman" panose="02020603050405020304" pitchFamily="18" charset="0"/>
                <a:cs typeface="Times New Roman" panose="02020603050405020304" pitchFamily="18" charset="0"/>
              </a:rPr>
              <a:t>Thank You</a:t>
            </a:r>
            <a:endParaRPr lang="en-IN" sz="125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727660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225</TotalTime>
  <Words>2037</Words>
  <Application>Microsoft Office PowerPoint</Application>
  <PresentationFormat>Widescreen</PresentationFormat>
  <Paragraphs>166</Paragraphs>
  <Slides>21</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1" baseType="lpstr">
      <vt:lpstr>Arial</vt:lpstr>
      <vt:lpstr>Arial Black</vt:lpstr>
      <vt:lpstr>Calibri</vt:lpstr>
      <vt:lpstr>Calibri Light</vt:lpstr>
      <vt:lpstr>Cambria</vt:lpstr>
      <vt:lpstr>Copperplate Gothic Bold</vt:lpstr>
      <vt:lpstr>Courier New</vt:lpstr>
      <vt:lpstr>Times New Roman</vt:lpstr>
      <vt:lpstr>Retrospect</vt:lpstr>
      <vt:lpstr>Bitmap Image</vt:lpstr>
      <vt:lpstr>Cyber-Bullying Detection in Social Media Platforms</vt:lpstr>
      <vt:lpstr>CONTENTS</vt:lpstr>
      <vt:lpstr>ABSTRACT</vt:lpstr>
      <vt:lpstr>INTRODUCTION</vt:lpstr>
      <vt:lpstr>LITERATURE SURVEY</vt:lpstr>
      <vt:lpstr>PowerPoint Presentation</vt:lpstr>
      <vt:lpstr>OBJECTIVES</vt:lpstr>
      <vt:lpstr> SYSTEM MODEL</vt:lpstr>
      <vt:lpstr>PowerPoint Presentation</vt:lpstr>
      <vt:lpstr>PowerPoint Presentation</vt:lpstr>
      <vt:lpstr>METHODOLOGY</vt:lpstr>
      <vt:lpstr>METHODOLOGY</vt:lpstr>
      <vt:lpstr>SOFTWARE &amp; HARDWARE REQUIREMENTS</vt:lpstr>
      <vt:lpstr>RESULT AND DISCUSSION</vt:lpstr>
      <vt:lpstr>PowerPoint Presentation</vt:lpstr>
      <vt:lpstr>RESULT AND DISCUSSION</vt:lpstr>
      <vt:lpstr>RESULT AND DISCUSSION</vt:lpstr>
      <vt:lpstr>CONCLUSION</vt:lpstr>
      <vt:lpstr> 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Affiliation Conference Name, Date &amp; Venue Title of the Paper Authors</dc:title>
  <dc:creator>Admin</dc:creator>
  <cp:lastModifiedBy>Vinay Sawalgi</cp:lastModifiedBy>
  <cp:revision>19</cp:revision>
  <dcterms:created xsi:type="dcterms:W3CDTF">2025-11-26T05:01:08Z</dcterms:created>
  <dcterms:modified xsi:type="dcterms:W3CDTF">2025-11-28T04:59:13Z</dcterms:modified>
</cp:coreProperties>
</file>